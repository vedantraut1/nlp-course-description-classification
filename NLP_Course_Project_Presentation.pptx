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media/image10.svg" ContentType="image/svg+xml"/>
  <Override PartName="/ppt/media/image13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mbria Italics" charset="1" panose="020405030504060A0204"/>
      <p:regular r:id="rId19"/>
    </p:embeddedFont>
    <p:embeddedFont>
      <p:font typeface="Consolas" charset="1" panose="020B0609020204030204"/>
      <p:regular r:id="rId20"/>
    </p:embeddedFont>
    <p:embeddedFont>
      <p:font typeface="Segoe UI Bold" charset="1" panose="020B0802040204020203"/>
      <p:regular r:id="rId21"/>
    </p:embeddedFont>
    <p:embeddedFont>
      <p:font typeface="Segoe UI" charset="1" panose="020B0502040204020203"/>
      <p:regular r:id="rId22"/>
    </p:embeddedFont>
    <p:embeddedFont>
      <p:font typeface="Consolas Bold" charset="1" panose="020B0709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8.png"/><Relationship Id="rId7" Type="http://schemas.openxmlformats.org/officeDocument/2006/relationships/oleObject" Target="../embeddings/oleObject1.bin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8.png"/><Relationship Id="rId4" Type="http://schemas.openxmlformats.org/officeDocument/2006/relationships/image" Target="../media/image6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09600"/>
            <a:ext cx="1114425" cy="1028700"/>
            <a:chOff x="0" y="0"/>
            <a:chExt cx="1485900" cy="1371600"/>
          </a:xfrm>
        </p:grpSpPr>
        <p:sp>
          <p:nvSpPr>
            <p:cNvPr name="Freeform 3" id="3" descr="Vidyavardhini's College of Engineering &amp; Technology logo"/>
            <p:cNvSpPr/>
            <p:nvPr/>
          </p:nvSpPr>
          <p:spPr>
            <a:xfrm flipH="false" flipV="false" rot="0">
              <a:off x="0" y="0"/>
              <a:ext cx="14859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4" id="4"/>
          <p:cNvSpPr/>
          <p:nvPr/>
        </p:nvSpPr>
        <p:spPr>
          <a:xfrm rot="68340">
            <a:off x="14538446" y="3057525"/>
            <a:ext cx="479184" cy="0"/>
          </a:xfrm>
          <a:prstGeom prst="line">
            <a:avLst/>
          </a:prstGeom>
          <a:ln cap="rnd" w="9525">
            <a:solidFill>
              <a:srgbClr val="24275F">
                <a:alpha val="13333"/>
              </a:srgbClr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14400" y="5991225"/>
            <a:ext cx="99060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i="true">
                <a:solidFill>
                  <a:srgbClr val="6A6978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NLP-Based Academic Course Description Classification</a:t>
            </a:r>
            <a:r>
              <a:rPr lang="en-US" sz="2400" i="true">
                <a:solidFill>
                  <a:srgbClr val="6A6978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7829550"/>
            <a:ext cx="1905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C2185B"/>
                </a:solidFill>
                <a:latin typeface="Consolas"/>
                <a:ea typeface="Consolas"/>
                <a:cs typeface="Consolas"/>
                <a:sym typeface="Consolas"/>
              </a:rPr>
              <a:t>Roll XX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7581900"/>
            <a:ext cx="13148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E2040"/>
                </a:solidFill>
                <a:latin typeface="Segoe UI Bold"/>
                <a:ea typeface="Segoe UI Bold"/>
                <a:cs typeface="Segoe UI Bold"/>
                <a:sym typeface="Segoe UI Bold"/>
              </a:rPr>
              <a:t>Vedant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42010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Guide - Prof. [Your Guide Name]</a:t>
            </a:r>
            <a:r>
              <a:rPr lang="en-US" sz="1800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258501" y="4197705"/>
            <a:ext cx="8065291" cy="6089295"/>
          </a:xfrm>
          <a:custGeom>
            <a:avLst/>
            <a:gdLst/>
            <a:ahLst/>
            <a:cxnLst/>
            <a:rect r="r" b="b" t="t" l="l"/>
            <a:pathLst>
              <a:path h="6089295" w="8065291">
                <a:moveTo>
                  <a:pt x="0" y="0"/>
                </a:moveTo>
                <a:lnTo>
                  <a:pt x="8065291" y="0"/>
                </a:lnTo>
                <a:lnTo>
                  <a:pt x="8065291" y="6089295"/>
                </a:lnTo>
                <a:lnTo>
                  <a:pt x="0" y="6089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2286000" y="723900"/>
            <a:ext cx="1047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4275F"/>
                </a:solidFill>
                <a:latin typeface="Segoe UI"/>
                <a:ea typeface="Segoe UI"/>
                <a:cs typeface="Segoe UI"/>
                <a:sym typeface="Segoe UI"/>
              </a:rPr>
              <a:t>Vidyavardhini's College of Engineering &amp;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1181100"/>
            <a:ext cx="10477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Department of Computer Engineering · University of Mumbai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948" y="2857500"/>
            <a:ext cx="8572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300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NLP COURSE PROJECT · SEM VII · 2026–27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3219450"/>
            <a:ext cx="10096500" cy="274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sz="56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CourseClassifier</a:t>
            </a:r>
          </a:p>
          <a:p>
            <a:pPr algn="l">
              <a:lnSpc>
                <a:spcPts val="7120"/>
              </a:lnSpc>
            </a:pPr>
            <a:r>
              <a:rPr lang="en-US" sz="56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Academic Discipline Predictor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76625" y="7581900"/>
            <a:ext cx="145271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E2040"/>
                </a:solidFill>
                <a:latin typeface="Segoe UI Bold"/>
                <a:ea typeface="Segoe UI Bold"/>
                <a:cs typeface="Segoe UI Bold"/>
                <a:sym typeface="Segoe UI Bold"/>
              </a:rPr>
              <a:t>Team Member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6625" y="7829550"/>
            <a:ext cx="1905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C2185B"/>
                </a:solidFill>
                <a:latin typeface="Consolas"/>
                <a:ea typeface="Consolas"/>
                <a:cs typeface="Consolas"/>
                <a:sym typeface="Consolas"/>
              </a:rPr>
              <a:t>Roll XX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29499" y="7581900"/>
            <a:ext cx="222900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E2040"/>
                </a:solidFill>
                <a:latin typeface="Segoe UI Bold"/>
                <a:ea typeface="Segoe UI Bold"/>
                <a:cs typeface="Segoe UI Bold"/>
                <a:sym typeface="Segoe UI Bold"/>
              </a:rPr>
              <a:t>Team Member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6507" y="7829550"/>
            <a:ext cx="1905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C2185B"/>
                </a:solidFill>
                <a:latin typeface="Consolas"/>
                <a:ea typeface="Consolas"/>
                <a:cs typeface="Consolas"/>
                <a:sym typeface="Consolas"/>
              </a:rPr>
              <a:t>Roll XX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56507" y="7581900"/>
            <a:ext cx="14205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E2040"/>
                </a:solidFill>
                <a:latin typeface="Segoe UI Bold"/>
                <a:ea typeface="Segoe UI Bold"/>
                <a:cs typeface="Segoe UI Bold"/>
                <a:sym typeface="Segoe UI Bold"/>
              </a:rPr>
              <a:t>Team Member 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9499" y="7839075"/>
            <a:ext cx="1905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C2185B"/>
                </a:solidFill>
                <a:latin typeface="Consolas"/>
                <a:ea typeface="Consolas"/>
                <a:cs typeface="Consolas"/>
                <a:sym typeface="Consolas"/>
              </a:rPr>
              <a:t>Roll XX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300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01 · INTRODUCTION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980" r="0" b="-255979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895350"/>
            <a:ext cx="12573000" cy="1530778"/>
            <a:chOff x="0" y="0"/>
            <a:chExt cx="16764000" cy="20410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4000" cy="2041037"/>
            </a:xfrm>
            <a:custGeom>
              <a:avLst/>
              <a:gdLst/>
              <a:ahLst/>
              <a:cxnLst/>
              <a:rect r="r" b="b" t="t" l="l"/>
              <a:pathLst>
                <a:path h="2041037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2041037"/>
                  </a:lnTo>
                  <a:lnTo>
                    <a:pt x="0" y="20410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06" r="0" b="-8617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764000" cy="210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99"/>
                </a:lnSpc>
              </a:pPr>
              <a:r>
                <a:rPr lang="en-US" sz="38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Classifying courses into disciplines </a:t>
              </a:r>
            </a:p>
            <a:p>
              <a:pPr algn="l">
                <a:lnSpc>
                  <a:spcPts val="5399"/>
                </a:lnSpc>
              </a:pPr>
              <a:r>
                <a:rPr lang="en-US" sz="38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is key to academic analytics.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902494" y="9591675"/>
            <a:ext cx="16483022" cy="0"/>
          </a:xfrm>
          <a:prstGeom prst="line">
            <a:avLst/>
          </a:prstGeom>
          <a:ln cap="rnd" w="9525">
            <a:solidFill>
              <a:srgbClr val="E3E1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934419" y="2999232"/>
            <a:ext cx="8666781" cy="5996369"/>
            <a:chOff x="0" y="0"/>
            <a:chExt cx="11696700" cy="809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96700" cy="8092708"/>
            </a:xfrm>
            <a:custGeom>
              <a:avLst/>
              <a:gdLst/>
              <a:ahLst/>
              <a:cxnLst/>
              <a:rect r="r" b="b" t="t" l="l"/>
              <a:pathLst>
                <a:path h="8092708" w="11696700">
                  <a:moveTo>
                    <a:pt x="0" y="239301"/>
                  </a:moveTo>
                  <a:cubicBezTo>
                    <a:pt x="0" y="107141"/>
                    <a:pt x="125095" y="0"/>
                    <a:pt x="279400" y="0"/>
                  </a:cubicBezTo>
                  <a:lnTo>
                    <a:pt x="11417300" y="0"/>
                  </a:lnTo>
                  <a:cubicBezTo>
                    <a:pt x="11571605" y="0"/>
                    <a:pt x="11696700" y="107141"/>
                    <a:pt x="11696700" y="239301"/>
                  </a:cubicBezTo>
                  <a:lnTo>
                    <a:pt x="11696700" y="7853407"/>
                  </a:lnTo>
                  <a:cubicBezTo>
                    <a:pt x="11696700" y="7985567"/>
                    <a:pt x="11571605" y="8092708"/>
                    <a:pt x="11417300" y="8092708"/>
                  </a:cubicBezTo>
                  <a:lnTo>
                    <a:pt x="279400" y="8092708"/>
                  </a:lnTo>
                  <a:cubicBezTo>
                    <a:pt x="125095" y="8092708"/>
                    <a:pt x="0" y="7985567"/>
                    <a:pt x="0" y="7853407"/>
                  </a:cubicBezTo>
                  <a:close/>
                </a:path>
              </a:pathLst>
            </a:custGeom>
            <a:blipFill>
              <a:blip r:embed="rId4"/>
              <a:stretch>
                <a:fillRect l="0" t="-23741" r="0" b="-23741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8750" y="2971990"/>
            <a:ext cx="7467150" cy="6162675"/>
            <a:chOff x="0" y="0"/>
            <a:chExt cx="10414000" cy="8594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8594725"/>
            </a:xfrm>
            <a:custGeom>
              <a:avLst/>
              <a:gdLst/>
              <a:ahLst/>
              <a:cxnLst/>
              <a:rect r="r" b="b" t="t" l="l"/>
              <a:pathLst>
                <a:path h="8594725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8594725"/>
                  </a:lnTo>
                  <a:lnTo>
                    <a:pt x="0" y="859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889" t="0" r="-55889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28600"/>
              <a:ext cx="10414000" cy="8823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176953" lvl="2">
                <a:lnSpc>
                  <a:spcPts val="5123"/>
                </a:lnSpc>
                <a:buFont typeface="Arial"/>
                <a:buChar char="⚬"/>
              </a:pPr>
              <a:r>
                <a:rPr lang="en-US" sz="23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University catalogs contain thousands of course descriptions.</a:t>
              </a:r>
            </a:p>
            <a:p>
              <a:pPr algn="l" marL="530860" indent="-176953" lvl="2">
                <a:lnSpc>
                  <a:spcPts val="5123"/>
                </a:lnSpc>
                <a:buFont typeface="Arial"/>
                <a:buChar char="⚬"/>
              </a:pPr>
              <a:r>
                <a:rPr lang="en-US" sz="23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Manual classification is tedious and does not scale.</a:t>
              </a:r>
            </a:p>
            <a:p>
              <a:pPr algn="l" marL="530860" indent="-176953" lvl="2">
                <a:lnSpc>
                  <a:spcPts val="5123"/>
                </a:lnSpc>
                <a:buFont typeface="Arial"/>
                <a:buChar char="⚬"/>
              </a:pPr>
              <a:r>
                <a:rPr lang="en-US" sz="23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We use 4 transformer models to auto-classify into 10 disciplines.</a:t>
              </a:r>
            </a:p>
            <a:p>
              <a:pPr algn="l" marL="530860" indent="-176953" lvl="2">
                <a:lnSpc>
                  <a:spcPts val="5123"/>
                </a:lnSpc>
                <a:buFont typeface="Arial"/>
                <a:buChar char="⚬"/>
              </a:pPr>
              <a:r>
                <a:rPr lang="en-US" sz="23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CourseClassifier achieves 100% accuracy with millisecond course classification.</a:t>
              </a:r>
            </a:p>
            <a:p>
              <a:pPr algn="l" marL="530860" indent="-176953" lvl="2">
                <a:lnSpc>
                  <a:spcPts val="512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06025" y="2247900"/>
            <a:ext cx="3505200" cy="2430294"/>
            <a:chOff x="0" y="0"/>
            <a:chExt cx="4673600" cy="32403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73600" cy="3240405"/>
            </a:xfrm>
            <a:custGeom>
              <a:avLst/>
              <a:gdLst/>
              <a:ahLst/>
              <a:cxnLst/>
              <a:rect r="r" b="b" t="t" l="l"/>
              <a:pathLst>
                <a:path h="3240405" w="4673600">
                  <a:moveTo>
                    <a:pt x="0" y="360045"/>
                  </a:moveTo>
                  <a:cubicBezTo>
                    <a:pt x="0" y="161163"/>
                    <a:pt x="113665" y="0"/>
                    <a:pt x="254000" y="0"/>
                  </a:cubicBezTo>
                  <a:lnTo>
                    <a:pt x="4419600" y="0"/>
                  </a:lnTo>
                  <a:cubicBezTo>
                    <a:pt x="4559935" y="0"/>
                    <a:pt x="4673600" y="161163"/>
                    <a:pt x="4673600" y="360045"/>
                  </a:cubicBezTo>
                  <a:lnTo>
                    <a:pt x="4673600" y="2880360"/>
                  </a:lnTo>
                  <a:cubicBezTo>
                    <a:pt x="4673600" y="3079242"/>
                    <a:pt x="4559935" y="3240405"/>
                    <a:pt x="4419600" y="3240405"/>
                  </a:cubicBezTo>
                  <a:lnTo>
                    <a:pt x="254000" y="3240405"/>
                  </a:lnTo>
                  <a:cubicBezTo>
                    <a:pt x="113665" y="3240405"/>
                    <a:pt x="0" y="3079242"/>
                    <a:pt x="0" y="28803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10825" y="2495569"/>
            <a:ext cx="405498" cy="8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49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53675" y="3652818"/>
            <a:ext cx="3009900" cy="66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University course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descriptions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868400" y="2247900"/>
            <a:ext cx="3505200" cy="2430294"/>
            <a:chOff x="0" y="0"/>
            <a:chExt cx="4673600" cy="32403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73600" cy="3240405"/>
            </a:xfrm>
            <a:custGeom>
              <a:avLst/>
              <a:gdLst/>
              <a:ahLst/>
              <a:cxnLst/>
              <a:rect r="r" b="b" t="t" l="l"/>
              <a:pathLst>
                <a:path h="3240405" w="4673600">
                  <a:moveTo>
                    <a:pt x="0" y="360045"/>
                  </a:moveTo>
                  <a:cubicBezTo>
                    <a:pt x="0" y="161163"/>
                    <a:pt x="113665" y="0"/>
                    <a:pt x="254000" y="0"/>
                  </a:cubicBezTo>
                  <a:lnTo>
                    <a:pt x="4419600" y="0"/>
                  </a:lnTo>
                  <a:cubicBezTo>
                    <a:pt x="4559935" y="0"/>
                    <a:pt x="4673600" y="161163"/>
                    <a:pt x="4673600" y="360045"/>
                  </a:cubicBezTo>
                  <a:lnTo>
                    <a:pt x="4673600" y="2880360"/>
                  </a:lnTo>
                  <a:cubicBezTo>
                    <a:pt x="4673600" y="3079242"/>
                    <a:pt x="4559935" y="3240405"/>
                    <a:pt x="4419600" y="3240405"/>
                  </a:cubicBezTo>
                  <a:lnTo>
                    <a:pt x="254000" y="3240405"/>
                  </a:lnTo>
                  <a:cubicBezTo>
                    <a:pt x="113665" y="3240405"/>
                    <a:pt x="0" y="3079242"/>
                    <a:pt x="0" y="28803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268450" y="2495569"/>
            <a:ext cx="405498" cy="8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02966" y="3486150"/>
            <a:ext cx="3350428" cy="99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10 academic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disciplines classified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144125" y="5230644"/>
            <a:ext cx="3505200" cy="2084556"/>
            <a:chOff x="0" y="0"/>
            <a:chExt cx="4673600" cy="27794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73600" cy="2779395"/>
            </a:xfrm>
            <a:custGeom>
              <a:avLst/>
              <a:gdLst/>
              <a:ahLst/>
              <a:cxnLst/>
              <a:rect r="r" b="b" t="t" l="l"/>
              <a:pathLst>
                <a:path h="2779395" w="4673600">
                  <a:moveTo>
                    <a:pt x="0" y="308864"/>
                  </a:moveTo>
                  <a:cubicBezTo>
                    <a:pt x="0" y="138176"/>
                    <a:pt x="113665" y="0"/>
                    <a:pt x="254000" y="0"/>
                  </a:cubicBezTo>
                  <a:lnTo>
                    <a:pt x="4419600" y="0"/>
                  </a:lnTo>
                  <a:cubicBezTo>
                    <a:pt x="4559935" y="0"/>
                    <a:pt x="4673600" y="138176"/>
                    <a:pt x="4673600" y="308864"/>
                  </a:cubicBezTo>
                  <a:lnTo>
                    <a:pt x="4673600" y="2470531"/>
                  </a:lnTo>
                  <a:cubicBezTo>
                    <a:pt x="4673600" y="2641092"/>
                    <a:pt x="4559935" y="2779395"/>
                    <a:pt x="4419600" y="2779395"/>
                  </a:cubicBezTo>
                  <a:lnTo>
                    <a:pt x="254000" y="2779395"/>
                  </a:lnTo>
                  <a:cubicBezTo>
                    <a:pt x="113665" y="2779395"/>
                    <a:pt x="0" y="2641219"/>
                    <a:pt x="0" y="247053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10825" y="5415715"/>
            <a:ext cx="405498" cy="8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53675" y="6465837"/>
            <a:ext cx="3009900" cy="66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transformer models compared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35970" y="5230644"/>
            <a:ext cx="3437630" cy="2084556"/>
            <a:chOff x="0" y="0"/>
            <a:chExt cx="4583506" cy="27794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83430" cy="2779395"/>
            </a:xfrm>
            <a:custGeom>
              <a:avLst/>
              <a:gdLst/>
              <a:ahLst/>
              <a:cxnLst/>
              <a:rect r="r" b="b" t="t" l="l"/>
              <a:pathLst>
                <a:path h="2779395" w="4583430">
                  <a:moveTo>
                    <a:pt x="0" y="308864"/>
                  </a:moveTo>
                  <a:cubicBezTo>
                    <a:pt x="0" y="138176"/>
                    <a:pt x="111506" y="0"/>
                    <a:pt x="249047" y="0"/>
                  </a:cubicBezTo>
                  <a:lnTo>
                    <a:pt x="4334383" y="0"/>
                  </a:lnTo>
                  <a:cubicBezTo>
                    <a:pt x="4472051" y="0"/>
                    <a:pt x="4583430" y="138176"/>
                    <a:pt x="4583430" y="308864"/>
                  </a:cubicBezTo>
                  <a:lnTo>
                    <a:pt x="4583430" y="2470531"/>
                  </a:lnTo>
                  <a:cubicBezTo>
                    <a:pt x="4583430" y="2641092"/>
                    <a:pt x="4471924" y="2779395"/>
                    <a:pt x="4334383" y="2779395"/>
                  </a:cubicBezTo>
                  <a:lnTo>
                    <a:pt x="249047" y="2779395"/>
                  </a:lnTo>
                  <a:cubicBezTo>
                    <a:pt x="111506" y="2779395"/>
                    <a:pt x="0" y="2641219"/>
                    <a:pt x="0" y="247053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02966" y="5415715"/>
            <a:ext cx="1268349" cy="8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5550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>3K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49400" y="6465837"/>
            <a:ext cx="3009900" cy="66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course descriptions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in dataset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106025" y="7905750"/>
            <a:ext cx="7267575" cy="1428750"/>
            <a:chOff x="0" y="0"/>
            <a:chExt cx="9690100" cy="190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901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9690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9410700" y="0"/>
                  </a:lnTo>
                  <a:cubicBezTo>
                    <a:pt x="9565005" y="0"/>
                    <a:pt x="9690100" y="125095"/>
                    <a:pt x="9690100" y="279400"/>
                  </a:cubicBezTo>
                  <a:lnTo>
                    <a:pt x="9690100" y="1625600"/>
                  </a:lnTo>
                  <a:cubicBezTo>
                    <a:pt x="9690100" y="1779905"/>
                    <a:pt x="9565005" y="1905000"/>
                    <a:pt x="9410700" y="1905000"/>
                  </a:cubicBezTo>
                  <a:lnTo>
                    <a:pt x="279400" y="1905000"/>
                  </a:lnTo>
                  <a:cubicBezTo>
                    <a:pt x="125095" y="1905000"/>
                    <a:pt x="0" y="1779905"/>
                    <a:pt x="0" y="1625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410825" y="8086725"/>
            <a:ext cx="6667500" cy="157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400" i="true">
                <a:solidFill>
                  <a:srgbClr val="1F2A6E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“Automating course classification enables smarter curriculum planning.”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168128" y="2176272"/>
            <a:ext cx="3246120" cy="2212848"/>
            <a:chOff x="0" y="0"/>
            <a:chExt cx="4328160" cy="29504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28160" cy="2950464"/>
            </a:xfrm>
            <a:custGeom>
              <a:avLst/>
              <a:gdLst/>
              <a:ahLst/>
              <a:cxnLst/>
              <a:rect r="r" b="b" t="t" l="l"/>
              <a:pathLst>
                <a:path h="2950464" w="4328160">
                  <a:moveTo>
                    <a:pt x="0" y="0"/>
                  </a:moveTo>
                  <a:lnTo>
                    <a:pt x="4328160" y="0"/>
                  </a:lnTo>
                  <a:lnTo>
                    <a:pt x="4328160" y="2950464"/>
                  </a:lnTo>
                  <a:lnTo>
                    <a:pt x="0" y="2950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24160" y="2340864"/>
            <a:ext cx="2743200" cy="658368"/>
            <a:chOff x="0" y="0"/>
            <a:chExt cx="3657600" cy="877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65760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3,000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24160" y="3136392"/>
            <a:ext cx="2743200" cy="960120"/>
            <a:chOff x="0" y="0"/>
            <a:chExt cx="365760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6576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University course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descriptions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26896" y="2176272"/>
            <a:ext cx="3566160" cy="2212848"/>
            <a:chOff x="0" y="0"/>
            <a:chExt cx="4754880" cy="29504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54880" cy="2950464"/>
            </a:xfrm>
            <a:custGeom>
              <a:avLst/>
              <a:gdLst/>
              <a:ahLst/>
              <a:cxnLst/>
              <a:rect r="r" b="b" t="t" l="l"/>
              <a:pathLst>
                <a:path h="295046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950464"/>
                  </a:lnTo>
                  <a:lnTo>
                    <a:pt x="0" y="2950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282928" y="3136392"/>
            <a:ext cx="3063240" cy="960120"/>
            <a:chOff x="0" y="0"/>
            <a:chExt cx="4084320" cy="1280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84319" cy="1280160"/>
            </a:xfrm>
            <a:custGeom>
              <a:avLst/>
              <a:gdLst/>
              <a:ahLst/>
              <a:cxnLst/>
              <a:rect r="r" b="b" t="t" l="l"/>
              <a:pathLst>
                <a:path h="1280160" w="4084319">
                  <a:moveTo>
                    <a:pt x="0" y="0"/>
                  </a:moveTo>
                  <a:lnTo>
                    <a:pt x="4084319" y="0"/>
                  </a:lnTo>
                  <a:lnTo>
                    <a:pt x="408431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66" r="0" b="-12166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0843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10 academic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disciplines classified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168128" y="5093208"/>
            <a:ext cx="3246120" cy="2212848"/>
            <a:chOff x="0" y="0"/>
            <a:chExt cx="4328160" cy="2950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28160" cy="2950464"/>
            </a:xfrm>
            <a:custGeom>
              <a:avLst/>
              <a:gdLst/>
              <a:ahLst/>
              <a:cxnLst/>
              <a:rect r="r" b="b" t="t" l="l"/>
              <a:pathLst>
                <a:path h="2950464" w="4328160">
                  <a:moveTo>
                    <a:pt x="0" y="0"/>
                  </a:moveTo>
                  <a:lnTo>
                    <a:pt x="4328160" y="0"/>
                  </a:lnTo>
                  <a:lnTo>
                    <a:pt x="4328160" y="2950464"/>
                  </a:lnTo>
                  <a:lnTo>
                    <a:pt x="0" y="2950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24160" y="5257800"/>
            <a:ext cx="2743200" cy="658368"/>
            <a:chOff x="0" y="0"/>
            <a:chExt cx="36576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65760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24160" y="6053328"/>
            <a:ext cx="2743200" cy="960120"/>
            <a:chOff x="0" y="0"/>
            <a:chExt cx="365760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6576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transformer models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compared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026896" y="5093208"/>
            <a:ext cx="3566160" cy="2212848"/>
            <a:chOff x="0" y="0"/>
            <a:chExt cx="4754880" cy="29504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2950464"/>
            </a:xfrm>
            <a:custGeom>
              <a:avLst/>
              <a:gdLst/>
              <a:ahLst/>
              <a:cxnLst/>
              <a:rect r="r" b="b" t="t" l="l"/>
              <a:pathLst>
                <a:path h="295046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950464"/>
                  </a:lnTo>
                  <a:lnTo>
                    <a:pt x="0" y="2950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282928" y="5257800"/>
            <a:ext cx="3063240" cy="1136861"/>
            <a:chOff x="0" y="0"/>
            <a:chExt cx="4084320" cy="15158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84319" cy="1515815"/>
            </a:xfrm>
            <a:custGeom>
              <a:avLst/>
              <a:gdLst/>
              <a:ahLst/>
              <a:cxnLst/>
              <a:rect r="r" b="b" t="t" l="l"/>
              <a:pathLst>
                <a:path h="1515815" w="4084319">
                  <a:moveTo>
                    <a:pt x="0" y="0"/>
                  </a:moveTo>
                  <a:lnTo>
                    <a:pt x="4084319" y="0"/>
                  </a:lnTo>
                  <a:lnTo>
                    <a:pt x="4084319" y="1515815"/>
                  </a:lnTo>
                  <a:lnTo>
                    <a:pt x="0" y="1515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46" r="0" b="18542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084320" cy="152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282928" y="6053328"/>
            <a:ext cx="3063240" cy="960120"/>
            <a:chOff x="0" y="0"/>
            <a:chExt cx="4084320" cy="1280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84319" cy="1280160"/>
            </a:xfrm>
            <a:custGeom>
              <a:avLst/>
              <a:gdLst/>
              <a:ahLst/>
              <a:cxnLst/>
              <a:rect r="r" b="b" t="t" l="l"/>
              <a:pathLst>
                <a:path h="1280160" w="4084319">
                  <a:moveTo>
                    <a:pt x="0" y="0"/>
                  </a:moveTo>
                  <a:lnTo>
                    <a:pt x="4084319" y="0"/>
                  </a:lnTo>
                  <a:lnTo>
                    <a:pt x="408431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66" r="0" b="-12166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0843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course descriptions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in dataset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346560" y="2060469"/>
            <a:ext cx="3063240" cy="1136861"/>
            <a:chOff x="0" y="0"/>
            <a:chExt cx="4084320" cy="15158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84319" cy="1515815"/>
            </a:xfrm>
            <a:custGeom>
              <a:avLst/>
              <a:gdLst/>
              <a:ahLst/>
              <a:cxnLst/>
              <a:rect r="r" b="b" t="t" l="l"/>
              <a:pathLst>
                <a:path h="1515815" w="4084319">
                  <a:moveTo>
                    <a:pt x="0" y="0"/>
                  </a:moveTo>
                  <a:lnTo>
                    <a:pt x="4084319" y="0"/>
                  </a:lnTo>
                  <a:lnTo>
                    <a:pt x="4084319" y="1515815"/>
                  </a:lnTo>
                  <a:lnTo>
                    <a:pt x="0" y="1515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46" r="0" b="18542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084320" cy="152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10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8" id="68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300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02 · PROBLEM STATEMENT &amp; OBJECTIVES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980" r="0" b="-255979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764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What we set out to build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247900"/>
            <a:ext cx="7458075" cy="7086600"/>
            <a:chOff x="0" y="0"/>
            <a:chExt cx="9944100" cy="944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44100" cy="9448800"/>
            </a:xfrm>
            <a:custGeom>
              <a:avLst/>
              <a:gdLst/>
              <a:ahLst/>
              <a:cxnLst/>
              <a:rect r="r" b="b" t="t" l="l"/>
              <a:pathLst>
                <a:path h="9448800" w="9944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9664700" y="0"/>
                  </a:lnTo>
                  <a:cubicBezTo>
                    <a:pt x="9819005" y="0"/>
                    <a:pt x="9944100" y="125095"/>
                    <a:pt x="9944100" y="279400"/>
                  </a:cubicBezTo>
                  <a:lnTo>
                    <a:pt x="9944100" y="9169400"/>
                  </a:lnTo>
                  <a:cubicBezTo>
                    <a:pt x="9944100" y="9323705"/>
                    <a:pt x="9819005" y="9448800"/>
                    <a:pt x="9664700" y="9448800"/>
                  </a:cubicBezTo>
                  <a:lnTo>
                    <a:pt x="279400" y="9448800"/>
                  </a:lnTo>
                  <a:cubicBezTo>
                    <a:pt x="125095" y="9448800"/>
                    <a:pt x="0" y="9323705"/>
                    <a:pt x="0" y="9169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247900"/>
            <a:ext cx="876300" cy="876300"/>
            <a:chOff x="0" y="0"/>
            <a:chExt cx="1168400" cy="116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0" y="1168400"/>
                  </a:lnTo>
                  <a:lnTo>
                    <a:pt x="1168400" y="0"/>
                  </a:lnTo>
                  <a:close/>
                </a:path>
              </a:pathLst>
            </a:custGeom>
            <a:solidFill>
              <a:srgbClr val="6B2FA0">
                <a:alpha val="70980"/>
              </a:srgbClr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5900" y="3771900"/>
            <a:ext cx="1952625" cy="323850"/>
            <a:chOff x="0" y="0"/>
            <a:chExt cx="2603500" cy="43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03500" cy="431800"/>
            </a:xfrm>
            <a:custGeom>
              <a:avLst/>
              <a:gdLst/>
              <a:ahLst/>
              <a:cxnLst/>
              <a:rect r="r" b="b" t="t" l="l"/>
              <a:pathLst>
                <a:path h="431800" w="26035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lnTo>
                    <a:pt x="2387600" y="0"/>
                  </a:lnTo>
                  <a:cubicBezTo>
                    <a:pt x="2506853" y="0"/>
                    <a:pt x="2603500" y="96647"/>
                    <a:pt x="2603500" y="215900"/>
                  </a:cubicBezTo>
                  <a:cubicBezTo>
                    <a:pt x="2603500" y="335153"/>
                    <a:pt x="2506853" y="431800"/>
                    <a:pt x="2387600" y="431800"/>
                  </a:cubicBezTo>
                  <a:lnTo>
                    <a:pt x="215900" y="431800"/>
                  </a:ln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EFEAF6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5900" y="3771900"/>
            <a:ext cx="1952625" cy="323850"/>
            <a:chOff x="0" y="0"/>
            <a:chExt cx="2603500" cy="43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03500" cy="431800"/>
            </a:xfrm>
            <a:custGeom>
              <a:avLst/>
              <a:gdLst/>
              <a:ahLst/>
              <a:cxnLst/>
              <a:rect r="r" b="b" t="t" l="l"/>
              <a:pathLst>
                <a:path h="431800" w="2603500">
                  <a:moveTo>
                    <a:pt x="0" y="0"/>
                  </a:moveTo>
                  <a:lnTo>
                    <a:pt x="2603500" y="0"/>
                  </a:lnTo>
                  <a:lnTo>
                    <a:pt x="26035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02" r="0" b="-6740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5900" y="3771900"/>
            <a:ext cx="1952625" cy="323850"/>
            <a:chOff x="0" y="0"/>
            <a:chExt cx="2603500" cy="431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03500" cy="431800"/>
            </a:xfrm>
            <a:custGeom>
              <a:avLst/>
              <a:gdLst/>
              <a:ahLst/>
              <a:cxnLst/>
              <a:rect r="r" b="b" t="t" l="l"/>
              <a:pathLst>
                <a:path h="431800" w="2603500">
                  <a:moveTo>
                    <a:pt x="0" y="0"/>
                  </a:moveTo>
                  <a:lnTo>
                    <a:pt x="2603500" y="0"/>
                  </a:lnTo>
                  <a:lnTo>
                    <a:pt x="26035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83" r="0" b="-67483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603500" cy="4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B2FA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Problem Statement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85900" y="4114800"/>
            <a:ext cx="6477000" cy="196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100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Build an automated NLP system that classifies university course descriptions into 10 academic disciplines using 4 transformer-based models from Hugging Face.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791575" y="2247900"/>
            <a:ext cx="8582025" cy="1628775"/>
            <a:chOff x="0" y="0"/>
            <a:chExt cx="11442700" cy="2171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42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114427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1163300" y="0"/>
                  </a:lnTo>
                  <a:cubicBezTo>
                    <a:pt x="11317605" y="0"/>
                    <a:pt x="11442700" y="125095"/>
                    <a:pt x="11442700" y="279400"/>
                  </a:cubicBezTo>
                  <a:lnTo>
                    <a:pt x="11442700" y="1892300"/>
                  </a:lnTo>
                  <a:cubicBezTo>
                    <a:pt x="11442700" y="2046605"/>
                    <a:pt x="11317605" y="2171700"/>
                    <a:pt x="11163300" y="2171700"/>
                  </a:cubicBezTo>
                  <a:lnTo>
                    <a:pt x="279400" y="2171700"/>
                  </a:lnTo>
                  <a:cubicBezTo>
                    <a:pt x="125095" y="2171700"/>
                    <a:pt x="0" y="2046605"/>
                    <a:pt x="0" y="18923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77325" y="2533650"/>
            <a:ext cx="552450" cy="552450"/>
            <a:chOff x="0" y="0"/>
            <a:chExt cx="736600" cy="736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lnTo>
                    <a:pt x="559816" y="0"/>
                  </a:lnTo>
                  <a:cubicBezTo>
                    <a:pt x="657479" y="0"/>
                    <a:pt x="736600" y="79121"/>
                    <a:pt x="736600" y="176784"/>
                  </a:cubicBezTo>
                  <a:lnTo>
                    <a:pt x="736600" y="559816"/>
                  </a:lnTo>
                  <a:cubicBezTo>
                    <a:pt x="736600" y="657479"/>
                    <a:pt x="657479" y="736600"/>
                    <a:pt x="559816" y="736600"/>
                  </a:cubicBezTo>
                  <a:lnTo>
                    <a:pt x="176784" y="736600"/>
                  </a:lnTo>
                  <a:cubicBezTo>
                    <a:pt x="79121" y="736600"/>
                    <a:pt x="0" y="657479"/>
                    <a:pt x="0" y="559816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77325" y="2533650"/>
            <a:ext cx="552450" cy="552450"/>
            <a:chOff x="0" y="0"/>
            <a:chExt cx="736600" cy="73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77325" y="2505075"/>
            <a:ext cx="552450" cy="581025"/>
            <a:chOff x="0" y="0"/>
            <a:chExt cx="736600" cy="774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6600" cy="774700"/>
            </a:xfrm>
            <a:custGeom>
              <a:avLst/>
              <a:gdLst/>
              <a:ahLst/>
              <a:cxnLst/>
              <a:rect r="r" b="b" t="t" l="l"/>
              <a:pathLst>
                <a:path h="7747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74700"/>
                  </a:lnTo>
                  <a:lnTo>
                    <a:pt x="0" y="7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39" t="0" r="-84939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6600" cy="812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858375" y="2476500"/>
            <a:ext cx="2917622" cy="45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 Data Collection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92058" y="2962161"/>
            <a:ext cx="7239000" cy="134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2"/>
              </a:lnSpc>
            </a:pPr>
            <a:r>
              <a:rPr lang="en-US" sz="1800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Curate 3,000 course descriptions from MIT OCW, Coursera, edX, Stanford, UC Berkeley &amp; Harvard (300 per discipline).</a:t>
            </a:r>
          </a:p>
          <a:p>
            <a:pPr algn="l">
              <a:lnSpc>
                <a:spcPts val="2602"/>
              </a:lnSpc>
            </a:pPr>
          </a:p>
          <a:p>
            <a:pPr algn="l">
              <a:lnSpc>
                <a:spcPts val="2602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8791575" y="4067175"/>
            <a:ext cx="8582025" cy="1628775"/>
            <a:chOff x="0" y="0"/>
            <a:chExt cx="11442700" cy="2171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42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114427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1163300" y="0"/>
                  </a:lnTo>
                  <a:cubicBezTo>
                    <a:pt x="11317605" y="0"/>
                    <a:pt x="11442700" y="125095"/>
                    <a:pt x="11442700" y="279400"/>
                  </a:cubicBezTo>
                  <a:lnTo>
                    <a:pt x="11442700" y="1892300"/>
                  </a:lnTo>
                  <a:cubicBezTo>
                    <a:pt x="11442700" y="2046605"/>
                    <a:pt x="11317605" y="2171700"/>
                    <a:pt x="11163300" y="2171700"/>
                  </a:cubicBezTo>
                  <a:lnTo>
                    <a:pt x="279400" y="2171700"/>
                  </a:lnTo>
                  <a:cubicBezTo>
                    <a:pt x="125095" y="2171700"/>
                    <a:pt x="0" y="2046605"/>
                    <a:pt x="0" y="18923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77325" y="4352925"/>
            <a:ext cx="552450" cy="552450"/>
            <a:chOff x="0" y="0"/>
            <a:chExt cx="736600" cy="736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lnTo>
                    <a:pt x="559816" y="0"/>
                  </a:lnTo>
                  <a:cubicBezTo>
                    <a:pt x="657479" y="0"/>
                    <a:pt x="736600" y="79121"/>
                    <a:pt x="736600" y="176784"/>
                  </a:cubicBezTo>
                  <a:lnTo>
                    <a:pt x="736600" y="559816"/>
                  </a:lnTo>
                  <a:cubicBezTo>
                    <a:pt x="736600" y="657479"/>
                    <a:pt x="657479" y="736600"/>
                    <a:pt x="559816" y="736600"/>
                  </a:cubicBezTo>
                  <a:lnTo>
                    <a:pt x="176784" y="736600"/>
                  </a:lnTo>
                  <a:cubicBezTo>
                    <a:pt x="79121" y="736600"/>
                    <a:pt x="0" y="657479"/>
                    <a:pt x="0" y="559816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77325" y="4352925"/>
            <a:ext cx="552450" cy="552450"/>
            <a:chOff x="0" y="0"/>
            <a:chExt cx="736600" cy="736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77325" y="4324350"/>
            <a:ext cx="552450" cy="581025"/>
            <a:chOff x="0" y="0"/>
            <a:chExt cx="736600" cy="774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6600" cy="774700"/>
            </a:xfrm>
            <a:custGeom>
              <a:avLst/>
              <a:gdLst/>
              <a:ahLst/>
              <a:cxnLst/>
              <a:rect r="r" b="b" t="t" l="l"/>
              <a:pathLst>
                <a:path h="7747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74700"/>
                  </a:lnTo>
                  <a:lnTo>
                    <a:pt x="0" y="7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39" t="0" r="-84939" b="0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36600" cy="812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858375" y="4295775"/>
            <a:ext cx="3298784" cy="45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 Multi-Model Training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57197" y="4790961"/>
            <a:ext cx="7239000" cy="134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00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Fine-tune 4 Hugging Face transformers: BERT, RoBERTa, DeBERTa, and T5 for sequence classification.</a:t>
            </a:r>
          </a:p>
          <a:p>
            <a:pPr algn="l">
              <a:lnSpc>
                <a:spcPts val="2608"/>
              </a:lnSpc>
            </a:pPr>
          </a:p>
          <a:p>
            <a:pPr algn="l">
              <a:lnSpc>
                <a:spcPts val="2608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8791575" y="5886450"/>
            <a:ext cx="8582025" cy="1628775"/>
            <a:chOff x="0" y="0"/>
            <a:chExt cx="11442700" cy="2171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42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114427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1163300" y="0"/>
                  </a:lnTo>
                  <a:cubicBezTo>
                    <a:pt x="11317605" y="0"/>
                    <a:pt x="11442700" y="125095"/>
                    <a:pt x="11442700" y="279400"/>
                  </a:cubicBezTo>
                  <a:lnTo>
                    <a:pt x="11442700" y="1892300"/>
                  </a:lnTo>
                  <a:cubicBezTo>
                    <a:pt x="11442700" y="2046605"/>
                    <a:pt x="11317605" y="2171700"/>
                    <a:pt x="11163300" y="2171700"/>
                  </a:cubicBezTo>
                  <a:lnTo>
                    <a:pt x="279400" y="2171700"/>
                  </a:lnTo>
                  <a:cubicBezTo>
                    <a:pt x="125095" y="2171700"/>
                    <a:pt x="0" y="2046605"/>
                    <a:pt x="0" y="18923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77325" y="6172200"/>
            <a:ext cx="552450" cy="552450"/>
            <a:chOff x="0" y="0"/>
            <a:chExt cx="736600" cy="736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lnTo>
                    <a:pt x="559816" y="0"/>
                  </a:lnTo>
                  <a:cubicBezTo>
                    <a:pt x="657479" y="0"/>
                    <a:pt x="736600" y="79121"/>
                    <a:pt x="736600" y="176784"/>
                  </a:cubicBezTo>
                  <a:lnTo>
                    <a:pt x="736600" y="559816"/>
                  </a:lnTo>
                  <a:cubicBezTo>
                    <a:pt x="736600" y="657479"/>
                    <a:pt x="657479" y="736600"/>
                    <a:pt x="559816" y="736600"/>
                  </a:cubicBezTo>
                  <a:lnTo>
                    <a:pt x="176784" y="736600"/>
                  </a:lnTo>
                  <a:cubicBezTo>
                    <a:pt x="79121" y="736600"/>
                    <a:pt x="0" y="657479"/>
                    <a:pt x="0" y="559816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77325" y="6172200"/>
            <a:ext cx="552450" cy="552450"/>
            <a:chOff x="0" y="0"/>
            <a:chExt cx="736600" cy="736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77325" y="6143625"/>
            <a:ext cx="552450" cy="581025"/>
            <a:chOff x="0" y="0"/>
            <a:chExt cx="736600" cy="774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74700"/>
            </a:xfrm>
            <a:custGeom>
              <a:avLst/>
              <a:gdLst/>
              <a:ahLst/>
              <a:cxnLst/>
              <a:rect r="r" b="b" t="t" l="l"/>
              <a:pathLst>
                <a:path h="7747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74700"/>
                  </a:lnTo>
                  <a:lnTo>
                    <a:pt x="0" y="7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39" t="0" r="-84939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6600" cy="812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867900" y="6600806"/>
            <a:ext cx="7239000" cy="134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2"/>
              </a:lnSpc>
            </a:pPr>
            <a:r>
              <a:rPr lang="en-US" sz="1800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Evaluate models with Accuracy, Macro F1, ROC-AUC, confusion matrices, and latency benchmarks.</a:t>
            </a:r>
          </a:p>
          <a:p>
            <a:pPr algn="l">
              <a:lnSpc>
                <a:spcPts val="2602"/>
              </a:lnSpc>
            </a:pPr>
          </a:p>
          <a:p>
            <a:pPr algn="l">
              <a:lnSpc>
                <a:spcPts val="2602"/>
              </a:lnSpc>
            </a:pPr>
          </a:p>
        </p:txBody>
      </p:sp>
      <p:grpSp>
        <p:nvGrpSpPr>
          <p:cNvPr name="Group 54" id="54"/>
          <p:cNvGrpSpPr/>
          <p:nvPr/>
        </p:nvGrpSpPr>
        <p:grpSpPr>
          <a:xfrm rot="0">
            <a:off x="8791575" y="7705725"/>
            <a:ext cx="8582025" cy="1628775"/>
            <a:chOff x="0" y="0"/>
            <a:chExt cx="11442700" cy="2171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42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114427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1163300" y="0"/>
                  </a:lnTo>
                  <a:cubicBezTo>
                    <a:pt x="11317605" y="0"/>
                    <a:pt x="11442700" y="125095"/>
                    <a:pt x="11442700" y="279400"/>
                  </a:cubicBezTo>
                  <a:lnTo>
                    <a:pt x="11442700" y="1892300"/>
                  </a:lnTo>
                  <a:cubicBezTo>
                    <a:pt x="11442700" y="2046605"/>
                    <a:pt x="11317605" y="2171700"/>
                    <a:pt x="11163300" y="2171700"/>
                  </a:cubicBezTo>
                  <a:lnTo>
                    <a:pt x="279400" y="2171700"/>
                  </a:lnTo>
                  <a:cubicBezTo>
                    <a:pt x="125095" y="2171700"/>
                    <a:pt x="0" y="2046605"/>
                    <a:pt x="0" y="18923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77325" y="7991475"/>
            <a:ext cx="552450" cy="552450"/>
            <a:chOff x="0" y="0"/>
            <a:chExt cx="736600" cy="736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lnTo>
                    <a:pt x="559816" y="0"/>
                  </a:lnTo>
                  <a:cubicBezTo>
                    <a:pt x="657479" y="0"/>
                    <a:pt x="736600" y="79121"/>
                    <a:pt x="736600" y="176784"/>
                  </a:cubicBezTo>
                  <a:lnTo>
                    <a:pt x="736600" y="559816"/>
                  </a:lnTo>
                  <a:cubicBezTo>
                    <a:pt x="736600" y="657479"/>
                    <a:pt x="657479" y="736600"/>
                    <a:pt x="559816" y="736600"/>
                  </a:cubicBezTo>
                  <a:lnTo>
                    <a:pt x="176784" y="736600"/>
                  </a:lnTo>
                  <a:cubicBezTo>
                    <a:pt x="79121" y="736600"/>
                    <a:pt x="0" y="657479"/>
                    <a:pt x="0" y="559816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77325" y="7991475"/>
            <a:ext cx="552450" cy="552450"/>
            <a:chOff x="0" y="0"/>
            <a:chExt cx="736600" cy="736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t="0" r="-78393" b="0"/>
              </a:stretch>
            </a:blip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77325" y="7962900"/>
            <a:ext cx="552450" cy="581025"/>
            <a:chOff x="0" y="0"/>
            <a:chExt cx="736600" cy="774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6600" cy="774700"/>
            </a:xfrm>
            <a:custGeom>
              <a:avLst/>
              <a:gdLst/>
              <a:ahLst/>
              <a:cxnLst/>
              <a:rect r="r" b="b" t="t" l="l"/>
              <a:pathLst>
                <a:path h="7747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774700"/>
                  </a:lnTo>
                  <a:lnTo>
                    <a:pt x="0" y="7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39" t="0" r="-84939" b="0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36600" cy="812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754943" y="7943945"/>
            <a:ext cx="3410407" cy="45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 Deploy &amp; Test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829800" y="8420081"/>
            <a:ext cx="7239000" cy="134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2"/>
              </a:lnSpc>
            </a:pPr>
            <a:r>
              <a:rPr lang="en-US" sz="1800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Interactive Flask web app with model comparison dashboard. CLI testing with pre-configured test suite.</a:t>
            </a:r>
          </a:p>
          <a:p>
            <a:pPr algn="l">
              <a:lnSpc>
                <a:spcPts val="2602"/>
              </a:lnSpc>
            </a:pPr>
          </a:p>
          <a:p>
            <a:pPr algn="l">
              <a:lnSpc>
                <a:spcPts val="2602"/>
              </a:lnSpc>
            </a:pPr>
          </a:p>
        </p:txBody>
      </p:sp>
      <p:grpSp>
        <p:nvGrpSpPr>
          <p:cNvPr name="Group 65" id="65"/>
          <p:cNvGrpSpPr/>
          <p:nvPr/>
        </p:nvGrpSpPr>
        <p:grpSpPr>
          <a:xfrm rot="0">
            <a:off x="9720072" y="6309360"/>
            <a:ext cx="7498080" cy="1682496"/>
            <a:chOff x="0" y="0"/>
            <a:chExt cx="9997440" cy="22433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2243328"/>
            </a:xfrm>
            <a:custGeom>
              <a:avLst/>
              <a:gdLst/>
              <a:ahLst/>
              <a:cxnLst/>
              <a:rect r="r" b="b" t="t" l="l"/>
              <a:pathLst>
                <a:path h="22433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67900" y="6158954"/>
            <a:ext cx="6812280" cy="541883"/>
            <a:chOff x="0" y="0"/>
            <a:chExt cx="9083040" cy="72251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083040" cy="722511"/>
            </a:xfrm>
            <a:custGeom>
              <a:avLst/>
              <a:gdLst/>
              <a:ahLst/>
              <a:cxnLst/>
              <a:rect r="r" b="b" t="t" l="l"/>
              <a:pathLst>
                <a:path h="722511" w="9083040">
                  <a:moveTo>
                    <a:pt x="0" y="0"/>
                  </a:moveTo>
                  <a:lnTo>
                    <a:pt x="9083040" y="0"/>
                  </a:lnTo>
                  <a:lnTo>
                    <a:pt x="9083040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551" r="0" b="-191360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083040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Evaluate &amp; Compare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66376" y="6647688"/>
            <a:ext cx="7223760" cy="749808"/>
            <a:chOff x="0" y="0"/>
            <a:chExt cx="9631680" cy="9997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631680" cy="999744"/>
            </a:xfrm>
            <a:custGeom>
              <a:avLst/>
              <a:gdLst/>
              <a:ahLst/>
              <a:cxnLst/>
              <a:rect r="r" b="b" t="t" l="l"/>
              <a:pathLst>
                <a:path h="999744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721" r="0" b="-137721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9631680" cy="999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Benchmark with Accuracy, F1, ROC-AUC across all 10 disciplines.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4" id="74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1887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612362"/>
            <a:ext cx="12573000" cy="1023176"/>
            <a:chOff x="0" y="0"/>
            <a:chExt cx="16764000" cy="1364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612362"/>
            <a:ext cx="12573000" cy="1023176"/>
            <a:chOff x="0" y="0"/>
            <a:chExt cx="16764000" cy="136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364233"/>
            </a:xfrm>
            <a:custGeom>
              <a:avLst/>
              <a:gdLst/>
              <a:ahLst/>
              <a:cxnLst/>
              <a:rect r="r" b="b" t="t" l="l"/>
              <a:pathLst>
                <a:path h="1364233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3"/>
                  </a:lnTo>
                  <a:lnTo>
                    <a:pt x="0" y="1364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36" r="0" b="-18943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0" cy="1364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Literature Survey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9610439"/>
            <a:ext cx="16459200" cy="274320"/>
            <a:chOff x="0" y="0"/>
            <a:chExt cx="21945600" cy="365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365760"/>
            </a:xfrm>
            <a:custGeom>
              <a:avLst/>
              <a:gdLst/>
              <a:ahLst/>
              <a:cxnLst/>
              <a:rect r="r" b="b" t="t" l="l"/>
              <a:pathLst>
                <a:path h="3657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102" r="0" b="-1119102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i="true">
                  <a:solidFill>
                    <a:srgbClr val="6A6978"/>
                  </a:solidFill>
                  <a:latin typeface="Segoe UI"/>
                  <a:ea typeface="Segoe UI"/>
                  <a:cs typeface="Segoe UI"/>
                  <a:sym typeface="Segoe UI"/>
                </a:rPr>
                <a:t>Survey of NLP text classification and transformer-based approaches for educational content categorization.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14" id="14"/>
          <p:cNvGraphicFramePr/>
          <p:nvPr/>
        </p:nvGraphicFramePr>
        <p:xfrm>
          <a:off x="1028700" y="1635538"/>
          <a:ext cx="7543800" cy="5029200"/>
        </p:xfrm>
        <a:graphic>
          <a:graphicData uri="http://schemas.openxmlformats.org/presentationml/2006/ole">
            <p:oleObj imgW="9042400" imgH="6527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419225" y="517112"/>
            <a:ext cx="27327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03 · 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364233"/>
            </a:xfrm>
            <a:custGeom>
              <a:avLst/>
              <a:gdLst/>
              <a:ahLst/>
              <a:cxnLst/>
              <a:rect r="r" b="b" t="t" l="l"/>
              <a:pathLst>
                <a:path h="1364233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3"/>
                  </a:lnTo>
                  <a:lnTo>
                    <a:pt x="0" y="1364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36" r="0" b="-18943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0" cy="1364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Research Gap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9473" y="9406509"/>
            <a:ext cx="17058904" cy="610895"/>
          </a:xfrm>
          <a:custGeom>
            <a:avLst/>
            <a:gdLst/>
            <a:ahLst/>
            <a:cxnLst/>
            <a:rect r="r" b="b" t="t" l="l"/>
            <a:pathLst>
              <a:path h="610895" w="17058904">
                <a:moveTo>
                  <a:pt x="0" y="0"/>
                </a:moveTo>
                <a:lnTo>
                  <a:pt x="17058903" y="0"/>
                </a:lnTo>
                <a:lnTo>
                  <a:pt x="17058903" y="610895"/>
                </a:lnTo>
                <a:lnTo>
                  <a:pt x="0" y="610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6744738" y="2570302"/>
            <a:ext cx="5157826" cy="6457845"/>
            <a:chOff x="0" y="0"/>
            <a:chExt cx="6877101" cy="86104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77050" cy="8610473"/>
            </a:xfrm>
            <a:custGeom>
              <a:avLst/>
              <a:gdLst/>
              <a:ahLst/>
              <a:cxnLst/>
              <a:rect r="r" b="b" t="t" l="l"/>
              <a:pathLst>
                <a:path h="8610473" w="6877050">
                  <a:moveTo>
                    <a:pt x="0" y="1107821"/>
                  </a:moveTo>
                  <a:cubicBezTo>
                    <a:pt x="0" y="495935"/>
                    <a:pt x="75184" y="0"/>
                    <a:pt x="167894" y="0"/>
                  </a:cubicBezTo>
                  <a:lnTo>
                    <a:pt x="6709156" y="0"/>
                  </a:lnTo>
                  <a:cubicBezTo>
                    <a:pt x="6801866" y="0"/>
                    <a:pt x="6877050" y="495935"/>
                    <a:pt x="6877050" y="1107821"/>
                  </a:cubicBezTo>
                  <a:lnTo>
                    <a:pt x="6877050" y="7502652"/>
                  </a:lnTo>
                  <a:cubicBezTo>
                    <a:pt x="6877050" y="8114411"/>
                    <a:pt x="6801866" y="8610473"/>
                    <a:pt x="6709156" y="8610473"/>
                  </a:cubicBezTo>
                  <a:lnTo>
                    <a:pt x="167894" y="8610473"/>
                  </a:lnTo>
                  <a:cubicBezTo>
                    <a:pt x="75184" y="8610473"/>
                    <a:pt x="0" y="8114538"/>
                    <a:pt x="0" y="75026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570302"/>
            <a:ext cx="5160140" cy="6460741"/>
            <a:chOff x="0" y="0"/>
            <a:chExt cx="6880187" cy="8614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0225" cy="8614411"/>
            </a:xfrm>
            <a:custGeom>
              <a:avLst/>
              <a:gdLst/>
              <a:ahLst/>
              <a:cxnLst/>
              <a:rect r="r" b="b" t="t" l="l"/>
              <a:pathLst>
                <a:path h="8614411" w="6880225">
                  <a:moveTo>
                    <a:pt x="0" y="1108329"/>
                  </a:moveTo>
                  <a:cubicBezTo>
                    <a:pt x="0" y="496189"/>
                    <a:pt x="75184" y="0"/>
                    <a:pt x="168021" y="0"/>
                  </a:cubicBezTo>
                  <a:lnTo>
                    <a:pt x="6712204" y="0"/>
                  </a:lnTo>
                  <a:cubicBezTo>
                    <a:pt x="6805041" y="0"/>
                    <a:pt x="6880225" y="496189"/>
                    <a:pt x="6880225" y="1108329"/>
                  </a:cubicBezTo>
                  <a:lnTo>
                    <a:pt x="6880225" y="7506081"/>
                  </a:lnTo>
                  <a:cubicBezTo>
                    <a:pt x="6880225" y="8118094"/>
                    <a:pt x="6805041" y="8614411"/>
                    <a:pt x="6712204" y="8614411"/>
                  </a:cubicBezTo>
                  <a:lnTo>
                    <a:pt x="168021" y="8614411"/>
                  </a:lnTo>
                  <a:cubicBezTo>
                    <a:pt x="75184" y="8614283"/>
                    <a:pt x="0" y="8118094"/>
                    <a:pt x="0" y="750608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78048" y="2570302"/>
            <a:ext cx="5140328" cy="6435938"/>
            <a:chOff x="0" y="0"/>
            <a:chExt cx="6853771" cy="858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3809" cy="8581263"/>
            </a:xfrm>
            <a:custGeom>
              <a:avLst/>
              <a:gdLst/>
              <a:ahLst/>
              <a:cxnLst/>
              <a:rect r="r" b="b" t="t" l="l"/>
              <a:pathLst>
                <a:path h="8581263" w="6853809">
                  <a:moveTo>
                    <a:pt x="0" y="1104011"/>
                  </a:moveTo>
                  <a:cubicBezTo>
                    <a:pt x="0" y="494284"/>
                    <a:pt x="74930" y="0"/>
                    <a:pt x="167386" y="0"/>
                  </a:cubicBezTo>
                  <a:lnTo>
                    <a:pt x="6686423" y="0"/>
                  </a:lnTo>
                  <a:cubicBezTo>
                    <a:pt x="6778879" y="0"/>
                    <a:pt x="6853809" y="494284"/>
                    <a:pt x="6853809" y="1104011"/>
                  </a:cubicBezTo>
                  <a:lnTo>
                    <a:pt x="6853809" y="7477252"/>
                  </a:lnTo>
                  <a:cubicBezTo>
                    <a:pt x="6853809" y="8086979"/>
                    <a:pt x="6778879" y="8581263"/>
                    <a:pt x="6686423" y="8581263"/>
                  </a:cubicBezTo>
                  <a:lnTo>
                    <a:pt x="167386" y="8581263"/>
                  </a:lnTo>
                  <a:cubicBezTo>
                    <a:pt x="74930" y="8581263"/>
                    <a:pt x="0" y="8086979"/>
                    <a:pt x="0" y="74772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4900" y="2701452"/>
            <a:ext cx="1257224" cy="563080"/>
            <a:chOff x="0" y="0"/>
            <a:chExt cx="1676298" cy="750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6400" cy="750824"/>
            </a:xfrm>
            <a:custGeom>
              <a:avLst/>
              <a:gdLst/>
              <a:ahLst/>
              <a:cxnLst/>
              <a:rect r="r" b="b" t="t" l="l"/>
              <a:pathLst>
                <a:path h="750824" w="1676400">
                  <a:moveTo>
                    <a:pt x="0" y="180213"/>
                  </a:moveTo>
                  <a:cubicBezTo>
                    <a:pt x="0" y="80645"/>
                    <a:pt x="180213" y="0"/>
                    <a:pt x="402336" y="0"/>
                  </a:cubicBezTo>
                  <a:lnTo>
                    <a:pt x="1274064" y="0"/>
                  </a:lnTo>
                  <a:cubicBezTo>
                    <a:pt x="1496187" y="0"/>
                    <a:pt x="1676400" y="80645"/>
                    <a:pt x="1676400" y="180213"/>
                  </a:cubicBezTo>
                  <a:lnTo>
                    <a:pt x="1676400" y="570611"/>
                  </a:lnTo>
                  <a:cubicBezTo>
                    <a:pt x="1676400" y="670052"/>
                    <a:pt x="1496187" y="750824"/>
                    <a:pt x="1274064" y="750824"/>
                  </a:cubicBezTo>
                  <a:lnTo>
                    <a:pt x="402336" y="750824"/>
                  </a:lnTo>
                  <a:cubicBezTo>
                    <a:pt x="180213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9859" y="2570302"/>
            <a:ext cx="765543" cy="765543"/>
            <a:chOff x="0" y="0"/>
            <a:chExt cx="1020724" cy="1020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0699" cy="1020699"/>
            </a:xfrm>
            <a:custGeom>
              <a:avLst/>
              <a:gdLst/>
              <a:ahLst/>
              <a:cxnLst/>
              <a:rect r="r" b="b" t="t" l="l"/>
              <a:pathLst>
                <a:path h="1020699" w="1020699">
                  <a:moveTo>
                    <a:pt x="0" y="0"/>
                  </a:moveTo>
                  <a:lnTo>
                    <a:pt x="1020699" y="0"/>
                  </a:lnTo>
                  <a:lnTo>
                    <a:pt x="1020699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4" t="0" r="-78396" b="-2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9859" y="2534412"/>
            <a:ext cx="765543" cy="801424"/>
            <a:chOff x="0" y="0"/>
            <a:chExt cx="1020724" cy="10685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0722" cy="1068568"/>
            </a:xfrm>
            <a:custGeom>
              <a:avLst/>
              <a:gdLst/>
              <a:ahLst/>
              <a:cxnLst/>
              <a:rect r="r" b="b" t="t" l="l"/>
              <a:pathLst>
                <a:path h="1068568" w="1020722">
                  <a:moveTo>
                    <a:pt x="0" y="0"/>
                  </a:moveTo>
                  <a:lnTo>
                    <a:pt x="1020722" y="0"/>
                  </a:lnTo>
                  <a:lnTo>
                    <a:pt x="1020722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17" t="0" r="-84317" b="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0724" cy="1106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Gap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85181" y="2701452"/>
            <a:ext cx="1257224" cy="563080"/>
            <a:chOff x="0" y="0"/>
            <a:chExt cx="1676298" cy="7507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76400" cy="750824"/>
            </a:xfrm>
            <a:custGeom>
              <a:avLst/>
              <a:gdLst/>
              <a:ahLst/>
              <a:cxnLst/>
              <a:rect r="r" b="b" t="t" l="l"/>
              <a:pathLst>
                <a:path h="750824" w="1676400">
                  <a:moveTo>
                    <a:pt x="0" y="180213"/>
                  </a:moveTo>
                  <a:cubicBezTo>
                    <a:pt x="0" y="80645"/>
                    <a:pt x="180213" y="0"/>
                    <a:pt x="402336" y="0"/>
                  </a:cubicBezTo>
                  <a:lnTo>
                    <a:pt x="1274064" y="0"/>
                  </a:lnTo>
                  <a:cubicBezTo>
                    <a:pt x="1496187" y="0"/>
                    <a:pt x="1676400" y="80645"/>
                    <a:pt x="1676400" y="180213"/>
                  </a:cubicBezTo>
                  <a:lnTo>
                    <a:pt x="1676400" y="570611"/>
                  </a:lnTo>
                  <a:cubicBezTo>
                    <a:pt x="1676400" y="670052"/>
                    <a:pt x="1496187" y="750824"/>
                    <a:pt x="1274064" y="750824"/>
                  </a:cubicBezTo>
                  <a:lnTo>
                    <a:pt x="402336" y="750824"/>
                  </a:lnTo>
                  <a:cubicBezTo>
                    <a:pt x="180213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90149" y="2570302"/>
            <a:ext cx="765543" cy="765543"/>
            <a:chOff x="0" y="0"/>
            <a:chExt cx="1020724" cy="10207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0699" cy="1020699"/>
            </a:xfrm>
            <a:custGeom>
              <a:avLst/>
              <a:gdLst/>
              <a:ahLst/>
              <a:cxnLst/>
              <a:rect r="r" b="b" t="t" l="l"/>
              <a:pathLst>
                <a:path h="1020699" w="1020699">
                  <a:moveTo>
                    <a:pt x="0" y="0"/>
                  </a:moveTo>
                  <a:lnTo>
                    <a:pt x="1020699" y="0"/>
                  </a:lnTo>
                  <a:lnTo>
                    <a:pt x="1020699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4" t="0" r="-78396" b="-2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90149" y="2534412"/>
            <a:ext cx="765543" cy="801424"/>
            <a:chOff x="0" y="0"/>
            <a:chExt cx="1020724" cy="10685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0721" cy="1068568"/>
            </a:xfrm>
            <a:custGeom>
              <a:avLst/>
              <a:gdLst/>
              <a:ahLst/>
              <a:cxnLst/>
              <a:rect r="r" b="b" t="t" l="l"/>
              <a:pathLst>
                <a:path h="1068568" w="1020721">
                  <a:moveTo>
                    <a:pt x="0" y="0"/>
                  </a:moveTo>
                  <a:lnTo>
                    <a:pt x="1020721" y="0"/>
                  </a:lnTo>
                  <a:lnTo>
                    <a:pt x="1020721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17" t="0" r="-84317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20724" cy="1106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Gap 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65471" y="2701452"/>
            <a:ext cx="1257224" cy="563080"/>
            <a:chOff x="0" y="0"/>
            <a:chExt cx="1676298" cy="7507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76400" cy="750824"/>
            </a:xfrm>
            <a:custGeom>
              <a:avLst/>
              <a:gdLst/>
              <a:ahLst/>
              <a:cxnLst/>
              <a:rect r="r" b="b" t="t" l="l"/>
              <a:pathLst>
                <a:path h="750824" w="1676400">
                  <a:moveTo>
                    <a:pt x="0" y="180213"/>
                  </a:moveTo>
                  <a:cubicBezTo>
                    <a:pt x="0" y="80645"/>
                    <a:pt x="180213" y="0"/>
                    <a:pt x="402336" y="0"/>
                  </a:cubicBezTo>
                  <a:lnTo>
                    <a:pt x="1274064" y="0"/>
                  </a:lnTo>
                  <a:cubicBezTo>
                    <a:pt x="1496187" y="0"/>
                    <a:pt x="1676400" y="80645"/>
                    <a:pt x="1676400" y="180213"/>
                  </a:cubicBezTo>
                  <a:lnTo>
                    <a:pt x="1676400" y="570611"/>
                  </a:lnTo>
                  <a:cubicBezTo>
                    <a:pt x="1676400" y="670052"/>
                    <a:pt x="1496187" y="750824"/>
                    <a:pt x="1274064" y="750824"/>
                  </a:cubicBezTo>
                  <a:lnTo>
                    <a:pt x="402336" y="750824"/>
                  </a:lnTo>
                  <a:cubicBezTo>
                    <a:pt x="180213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70430" y="2570302"/>
            <a:ext cx="765543" cy="765543"/>
            <a:chOff x="0" y="0"/>
            <a:chExt cx="1020724" cy="10207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0699" cy="1020699"/>
            </a:xfrm>
            <a:custGeom>
              <a:avLst/>
              <a:gdLst/>
              <a:ahLst/>
              <a:cxnLst/>
              <a:rect r="r" b="b" t="t" l="l"/>
              <a:pathLst>
                <a:path h="1020699" w="1020699">
                  <a:moveTo>
                    <a:pt x="0" y="0"/>
                  </a:moveTo>
                  <a:lnTo>
                    <a:pt x="1020699" y="0"/>
                  </a:lnTo>
                  <a:lnTo>
                    <a:pt x="1020699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4" t="0" r="-78396" b="-2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70430" y="2534412"/>
            <a:ext cx="765543" cy="801424"/>
            <a:chOff x="0" y="0"/>
            <a:chExt cx="1020724" cy="10685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0721" cy="1068568"/>
            </a:xfrm>
            <a:custGeom>
              <a:avLst/>
              <a:gdLst/>
              <a:ahLst/>
              <a:cxnLst/>
              <a:rect r="r" b="b" t="t" l="l"/>
              <a:pathLst>
                <a:path h="1068568" w="1020721">
                  <a:moveTo>
                    <a:pt x="0" y="0"/>
                  </a:moveTo>
                  <a:lnTo>
                    <a:pt x="1020721" y="0"/>
                  </a:lnTo>
                  <a:lnTo>
                    <a:pt x="1020721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317" t="0" r="-84317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20724" cy="1106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Gap 3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-21420">
            <a:off x="1090565" y="6433976"/>
            <a:ext cx="4579991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1104900" y="6629238"/>
            <a:ext cx="1474146" cy="563080"/>
            <a:chOff x="0" y="0"/>
            <a:chExt cx="1965528" cy="7507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65452" cy="750824"/>
            </a:xfrm>
            <a:custGeom>
              <a:avLst/>
              <a:gdLst/>
              <a:ahLst/>
              <a:cxnLst/>
              <a:rect r="r" b="b" t="t" l="l"/>
              <a:pathLst>
                <a:path h="750824" w="1965452">
                  <a:moveTo>
                    <a:pt x="0" y="180213"/>
                  </a:moveTo>
                  <a:cubicBezTo>
                    <a:pt x="0" y="80645"/>
                    <a:pt x="211328" y="0"/>
                    <a:pt x="471678" y="0"/>
                  </a:cubicBezTo>
                  <a:lnTo>
                    <a:pt x="1493774" y="0"/>
                  </a:lnTo>
                  <a:cubicBezTo>
                    <a:pt x="1754251" y="0"/>
                    <a:pt x="1965452" y="80645"/>
                    <a:pt x="1965452" y="180213"/>
                  </a:cubicBezTo>
                  <a:lnTo>
                    <a:pt x="1965452" y="570611"/>
                  </a:lnTo>
                  <a:cubicBezTo>
                    <a:pt x="1965452" y="670052"/>
                    <a:pt x="1754124" y="750824"/>
                    <a:pt x="1493774" y="750824"/>
                  </a:cubicBezTo>
                  <a:lnTo>
                    <a:pt x="471678" y="750824"/>
                  </a:lnTo>
                  <a:cubicBezTo>
                    <a:pt x="211328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56748" y="6528016"/>
            <a:ext cx="1170461" cy="765543"/>
            <a:chOff x="0" y="0"/>
            <a:chExt cx="1560614" cy="10207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60576" cy="1020699"/>
            </a:xfrm>
            <a:custGeom>
              <a:avLst/>
              <a:gdLst/>
              <a:ahLst/>
              <a:cxnLst/>
              <a:rect r="r" b="b" t="t" l="l"/>
              <a:pathLst>
                <a:path h="1020699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976" t="0" r="-33978" b="-2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56748" y="6492126"/>
            <a:ext cx="1170461" cy="801424"/>
            <a:chOff x="0" y="0"/>
            <a:chExt cx="1560614" cy="10685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60608" cy="1068568"/>
            </a:xfrm>
            <a:custGeom>
              <a:avLst/>
              <a:gdLst/>
              <a:ahLst/>
              <a:cxnLst/>
              <a:rect r="r" b="b" t="t" l="l"/>
              <a:pathLst>
                <a:path h="1068568" w="1560608">
                  <a:moveTo>
                    <a:pt x="0" y="0"/>
                  </a:moveTo>
                  <a:lnTo>
                    <a:pt x="1560608" y="0"/>
                  </a:lnTo>
                  <a:lnTo>
                    <a:pt x="1560608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50" t="0" r="-37851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560614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9"/>
                </a:lnSpc>
              </a:pPr>
              <a:r>
                <a:rPr lang="en-US" sz="1899" b="true">
                  <a:solidFill>
                    <a:srgbClr val="278A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Response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28750" y="609600"/>
            <a:ext cx="27327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04 · RESEARCH GAP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04900" y="3412046"/>
            <a:ext cx="3406654" cy="96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Single-model vs. multi-architecture comparison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4900" y="4528861"/>
            <a:ext cx="4551331" cy="14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Most studies evaluate only one architecture; cross-architecture benchmarking on course text is absent.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9750" y="7264975"/>
            <a:ext cx="4551331" cy="85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Train and compare 4 transformer architectures (BERT, RoBERTa, DeBERTa, T5) on the same dataset.</a:t>
            </a:r>
          </a:p>
        </p:txBody>
      </p:sp>
      <p:sp>
        <p:nvSpPr>
          <p:cNvPr name="AutoShape 49" id="49"/>
          <p:cNvSpPr/>
          <p:nvPr/>
        </p:nvSpPr>
        <p:spPr>
          <a:xfrm rot="-21420">
            <a:off x="6988874" y="6433976"/>
            <a:ext cx="4579991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0" id="50"/>
          <p:cNvGrpSpPr/>
          <p:nvPr/>
        </p:nvGrpSpPr>
        <p:grpSpPr>
          <a:xfrm rot="0">
            <a:off x="7003199" y="6629238"/>
            <a:ext cx="1474146" cy="563080"/>
            <a:chOff x="0" y="0"/>
            <a:chExt cx="1965528" cy="7507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65452" cy="750824"/>
            </a:xfrm>
            <a:custGeom>
              <a:avLst/>
              <a:gdLst/>
              <a:ahLst/>
              <a:cxnLst/>
              <a:rect r="r" b="b" t="t" l="l"/>
              <a:pathLst>
                <a:path h="750824" w="1965452">
                  <a:moveTo>
                    <a:pt x="0" y="180213"/>
                  </a:moveTo>
                  <a:cubicBezTo>
                    <a:pt x="0" y="80645"/>
                    <a:pt x="211328" y="0"/>
                    <a:pt x="471678" y="0"/>
                  </a:cubicBezTo>
                  <a:lnTo>
                    <a:pt x="1493774" y="0"/>
                  </a:lnTo>
                  <a:cubicBezTo>
                    <a:pt x="1754251" y="0"/>
                    <a:pt x="1965452" y="80645"/>
                    <a:pt x="1965452" y="180213"/>
                  </a:cubicBezTo>
                  <a:lnTo>
                    <a:pt x="1965452" y="570611"/>
                  </a:lnTo>
                  <a:cubicBezTo>
                    <a:pt x="1965452" y="670052"/>
                    <a:pt x="1754124" y="750824"/>
                    <a:pt x="1493774" y="750824"/>
                  </a:cubicBezTo>
                  <a:lnTo>
                    <a:pt x="471678" y="750824"/>
                  </a:lnTo>
                  <a:cubicBezTo>
                    <a:pt x="211328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55047" y="6528016"/>
            <a:ext cx="1170461" cy="765543"/>
            <a:chOff x="0" y="0"/>
            <a:chExt cx="1560614" cy="10207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60576" cy="1020699"/>
            </a:xfrm>
            <a:custGeom>
              <a:avLst/>
              <a:gdLst/>
              <a:ahLst/>
              <a:cxnLst/>
              <a:rect r="r" b="b" t="t" l="l"/>
              <a:pathLst>
                <a:path h="1020699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976" t="0" r="-33978" b="-2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7155047" y="6492126"/>
            <a:ext cx="1170461" cy="801424"/>
            <a:chOff x="0" y="0"/>
            <a:chExt cx="1560614" cy="10685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60608" cy="1068568"/>
            </a:xfrm>
            <a:custGeom>
              <a:avLst/>
              <a:gdLst/>
              <a:ahLst/>
              <a:cxnLst/>
              <a:rect r="r" b="b" t="t" l="l"/>
              <a:pathLst>
                <a:path h="1068568" w="1560608">
                  <a:moveTo>
                    <a:pt x="0" y="0"/>
                  </a:moveTo>
                  <a:lnTo>
                    <a:pt x="1560608" y="0"/>
                  </a:lnTo>
                  <a:lnTo>
                    <a:pt x="1560608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50" t="0" r="-37851" b="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560614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9"/>
                </a:lnSpc>
              </a:pPr>
              <a:r>
                <a:rPr lang="en-US" sz="1899" b="true">
                  <a:solidFill>
                    <a:srgbClr val="278A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Response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003199" y="3412046"/>
            <a:ext cx="4899365" cy="96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Diverse &amp; balanced dataset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003199" y="4528861"/>
            <a:ext cx="4551331" cy="14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Existing datasets are small, single-source, or class-imbalanced, limiting generalization.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098059" y="7264975"/>
            <a:ext cx="4551331" cy="14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Build a 3,000-sample balanced dataset (300/class) from 6 university sources with 60/20/20 split.</a:t>
            </a:r>
          </a:p>
        </p:txBody>
      </p:sp>
      <p:sp>
        <p:nvSpPr>
          <p:cNvPr name="AutoShape 60" id="60"/>
          <p:cNvSpPr/>
          <p:nvPr/>
        </p:nvSpPr>
        <p:spPr>
          <a:xfrm rot="-21420">
            <a:off x="12878829" y="6433976"/>
            <a:ext cx="4579991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61" id="61"/>
          <p:cNvGrpSpPr/>
          <p:nvPr/>
        </p:nvGrpSpPr>
        <p:grpSpPr>
          <a:xfrm rot="0">
            <a:off x="12893164" y="6629238"/>
            <a:ext cx="1474146" cy="563080"/>
            <a:chOff x="0" y="0"/>
            <a:chExt cx="1965528" cy="75077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65452" cy="750824"/>
            </a:xfrm>
            <a:custGeom>
              <a:avLst/>
              <a:gdLst/>
              <a:ahLst/>
              <a:cxnLst/>
              <a:rect r="r" b="b" t="t" l="l"/>
              <a:pathLst>
                <a:path h="750824" w="1965452">
                  <a:moveTo>
                    <a:pt x="0" y="180213"/>
                  </a:moveTo>
                  <a:cubicBezTo>
                    <a:pt x="0" y="80645"/>
                    <a:pt x="211328" y="0"/>
                    <a:pt x="471678" y="0"/>
                  </a:cubicBezTo>
                  <a:lnTo>
                    <a:pt x="1493774" y="0"/>
                  </a:lnTo>
                  <a:cubicBezTo>
                    <a:pt x="1754251" y="0"/>
                    <a:pt x="1965452" y="80645"/>
                    <a:pt x="1965452" y="180213"/>
                  </a:cubicBezTo>
                  <a:lnTo>
                    <a:pt x="1965452" y="570611"/>
                  </a:lnTo>
                  <a:cubicBezTo>
                    <a:pt x="1965452" y="670052"/>
                    <a:pt x="1754124" y="750824"/>
                    <a:pt x="1493774" y="750824"/>
                  </a:cubicBezTo>
                  <a:lnTo>
                    <a:pt x="471678" y="750824"/>
                  </a:lnTo>
                  <a:cubicBezTo>
                    <a:pt x="211328" y="750824"/>
                    <a:pt x="0" y="670052"/>
                    <a:pt x="0" y="570611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045002" y="6528016"/>
            <a:ext cx="1170461" cy="765543"/>
            <a:chOff x="0" y="0"/>
            <a:chExt cx="1560614" cy="10207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60576" cy="1020699"/>
            </a:xfrm>
            <a:custGeom>
              <a:avLst/>
              <a:gdLst/>
              <a:ahLst/>
              <a:cxnLst/>
              <a:rect r="r" b="b" t="t" l="l"/>
              <a:pathLst>
                <a:path h="1020699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020699"/>
                  </a:lnTo>
                  <a:lnTo>
                    <a:pt x="0" y="1020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976" t="0" r="-33978" b="-2"/>
              </a:stretch>
            </a:blip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45002" y="6492126"/>
            <a:ext cx="1170461" cy="801424"/>
            <a:chOff x="0" y="0"/>
            <a:chExt cx="1560614" cy="10685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60608" cy="1068568"/>
            </a:xfrm>
            <a:custGeom>
              <a:avLst/>
              <a:gdLst/>
              <a:ahLst/>
              <a:cxnLst/>
              <a:rect r="r" b="b" t="t" l="l"/>
              <a:pathLst>
                <a:path h="1068568" w="1560608">
                  <a:moveTo>
                    <a:pt x="0" y="0"/>
                  </a:moveTo>
                  <a:lnTo>
                    <a:pt x="1560608" y="0"/>
                  </a:lnTo>
                  <a:lnTo>
                    <a:pt x="1560608" y="1068568"/>
                  </a:lnTo>
                  <a:lnTo>
                    <a:pt x="0" y="1068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50" t="0" r="-37851" b="0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560614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9"/>
                </a:lnSpc>
              </a:pPr>
              <a:r>
                <a:rPr lang="en-US" sz="1899" b="true">
                  <a:solidFill>
                    <a:srgbClr val="278A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Response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826489" y="3454698"/>
            <a:ext cx="5288175" cy="96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Evaluation beyond accuracy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45539" y="4449832"/>
            <a:ext cx="4714942" cy="190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Accuracy alone does not reveal per-class performance or calibration quality.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988014" y="7264975"/>
            <a:ext cx="4551331" cy="14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1899">
                <a:solidFill>
                  <a:srgbClr val="24233A"/>
                </a:solidFill>
                <a:latin typeface="Segoe UI"/>
                <a:ea typeface="Segoe UI"/>
                <a:cs typeface="Segoe UI"/>
                <a:sym typeface="Segoe UI"/>
              </a:rPr>
              <a:t>Add ROC-AUC curves (per-class + micro/macro), confusion matrices, and latency benchmarks.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2" id="72"/>
          <p:cNvSpPr/>
          <p:nvPr/>
        </p:nvSpPr>
        <p:spPr>
          <a:xfrm flipH="false" flipV="false" rot="-10800000">
            <a:off x="14745571" y="-10038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364233"/>
            </a:xfrm>
            <a:custGeom>
              <a:avLst/>
              <a:gdLst/>
              <a:ahLst/>
              <a:cxnLst/>
              <a:rect r="r" b="b" t="t" l="l"/>
              <a:pathLst>
                <a:path h="1364233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3"/>
                  </a:lnTo>
                  <a:lnTo>
                    <a:pt x="0" y="1364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36" r="0" b="-18943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0" cy="1364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System Architecture &amp; Methodology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1980">
            <a:off x="902494" y="9591675"/>
            <a:ext cx="16483022" cy="0"/>
          </a:xfrm>
          <a:prstGeom prst="line">
            <a:avLst/>
          </a:prstGeom>
          <a:ln cap="rnd" w="9525">
            <a:solidFill>
              <a:srgbClr val="E3E1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533714" y="2381250"/>
            <a:ext cx="17248584" cy="7040966"/>
            <a:chOff x="0" y="0"/>
            <a:chExt cx="22998112" cy="93879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98049" cy="9387967"/>
            </a:xfrm>
            <a:custGeom>
              <a:avLst/>
              <a:gdLst/>
              <a:ahLst/>
              <a:cxnLst/>
              <a:rect r="r" b="b" t="t" l="l"/>
              <a:pathLst>
                <a:path h="9387967" w="22998049">
                  <a:moveTo>
                    <a:pt x="0" y="386080"/>
                  </a:moveTo>
                  <a:cubicBezTo>
                    <a:pt x="0" y="172847"/>
                    <a:pt x="204089" y="0"/>
                    <a:pt x="455803" y="0"/>
                  </a:cubicBezTo>
                  <a:lnTo>
                    <a:pt x="22542246" y="0"/>
                  </a:lnTo>
                  <a:cubicBezTo>
                    <a:pt x="22793961" y="0"/>
                    <a:pt x="22998049" y="172847"/>
                    <a:pt x="22998049" y="386080"/>
                  </a:cubicBezTo>
                  <a:lnTo>
                    <a:pt x="22998049" y="9001887"/>
                  </a:lnTo>
                  <a:cubicBezTo>
                    <a:pt x="22998049" y="9215120"/>
                    <a:pt x="22793961" y="9387967"/>
                    <a:pt x="22542246" y="9387967"/>
                  </a:cubicBezTo>
                  <a:lnTo>
                    <a:pt x="455803" y="9387967"/>
                  </a:lnTo>
                  <a:cubicBezTo>
                    <a:pt x="204089" y="9387967"/>
                    <a:pt x="0" y="9215120"/>
                    <a:pt x="0" y="900188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9708" y="2061400"/>
            <a:ext cx="17248584" cy="6693618"/>
            <a:chOff x="0" y="0"/>
            <a:chExt cx="22998112" cy="89248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98176" cy="8924798"/>
            </a:xfrm>
            <a:custGeom>
              <a:avLst/>
              <a:gdLst/>
              <a:ahLst/>
              <a:cxnLst/>
              <a:rect r="r" b="b" t="t" l="l"/>
              <a:pathLst>
                <a:path h="8924798" w="22998176">
                  <a:moveTo>
                    <a:pt x="0" y="0"/>
                  </a:moveTo>
                  <a:lnTo>
                    <a:pt x="22998176" y="0"/>
                  </a:lnTo>
                  <a:lnTo>
                    <a:pt x="22998176" y="8924798"/>
                  </a:lnTo>
                  <a:lnTo>
                    <a:pt x="0" y="8924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70" t="0" r="-2570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05 · METHODOLOGY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14755096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771525"/>
            <a:ext cx="12573000" cy="1023176"/>
            <a:chOff x="0" y="0"/>
            <a:chExt cx="16764000" cy="136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364233"/>
            </a:xfrm>
            <a:custGeom>
              <a:avLst/>
              <a:gdLst/>
              <a:ahLst/>
              <a:cxnLst/>
              <a:rect r="r" b="b" t="t" l="l"/>
              <a:pathLst>
                <a:path h="1364233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3"/>
                  </a:lnTo>
                  <a:lnTo>
                    <a:pt x="0" y="1364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36" r="0" b="-18943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0" cy="1364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All 4 models achieve 100% accuracy across 10 disciplines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22843" y="9356407"/>
            <a:ext cx="17363180" cy="1716529"/>
          </a:xfrm>
          <a:custGeom>
            <a:avLst/>
            <a:gdLst/>
            <a:ahLst/>
            <a:cxnLst/>
            <a:rect r="r" b="b" t="t" l="l"/>
            <a:pathLst>
              <a:path h="1716529" w="17363180">
                <a:moveTo>
                  <a:pt x="0" y="0"/>
                </a:moveTo>
                <a:lnTo>
                  <a:pt x="17363180" y="0"/>
                </a:lnTo>
                <a:lnTo>
                  <a:pt x="17363180" y="1716529"/>
                </a:lnTo>
                <a:lnTo>
                  <a:pt x="0" y="171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641338" y="1625997"/>
            <a:ext cx="12846062" cy="5062519"/>
          </a:xfrm>
          <a:custGeom>
            <a:avLst/>
            <a:gdLst/>
            <a:ahLst/>
            <a:cxnLst/>
            <a:rect r="r" b="b" t="t" l="l"/>
            <a:pathLst>
              <a:path h="5062519" w="12846062">
                <a:moveTo>
                  <a:pt x="0" y="0"/>
                </a:moveTo>
                <a:lnTo>
                  <a:pt x="12846062" y="0"/>
                </a:lnTo>
                <a:lnTo>
                  <a:pt x="12846062" y="5062519"/>
                </a:lnTo>
                <a:lnTo>
                  <a:pt x="0" y="5062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394222" y="6586165"/>
            <a:ext cx="8391801" cy="3615944"/>
          </a:xfrm>
          <a:custGeom>
            <a:avLst/>
            <a:gdLst/>
            <a:ahLst/>
            <a:cxnLst/>
            <a:rect r="r" b="b" t="t" l="l"/>
            <a:pathLst>
              <a:path h="3615944" w="8391801">
                <a:moveTo>
                  <a:pt x="0" y="0"/>
                </a:moveTo>
                <a:lnTo>
                  <a:pt x="8391801" y="0"/>
                </a:lnTo>
                <a:lnTo>
                  <a:pt x="8391801" y="3615943"/>
                </a:lnTo>
                <a:lnTo>
                  <a:pt x="0" y="36159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428750" y="609600"/>
            <a:ext cx="30506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06 · RESULT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0" y="347472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753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Literature Survey Baselines vs Our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90242" y="1623060"/>
            <a:ext cx="13661711" cy="7040880"/>
            <a:chOff x="0" y="0"/>
            <a:chExt cx="18215615" cy="9387840"/>
          </a:xfrm>
        </p:grpSpPr>
        <p:sp>
          <p:nvSpPr>
            <p:cNvPr name="Freeform 6" id="6" descr="base_vs_our_work.png"/>
            <p:cNvSpPr/>
            <p:nvPr/>
          </p:nvSpPr>
          <p:spPr>
            <a:xfrm flipH="false" flipV="false" rot="0">
              <a:off x="0" y="0"/>
              <a:ext cx="18215615" cy="9387840"/>
            </a:xfrm>
            <a:custGeom>
              <a:avLst/>
              <a:gdLst/>
              <a:ahLst/>
              <a:cxnLst/>
              <a:rect r="r" b="b" t="t" l="l"/>
              <a:pathLst>
                <a:path h="9387840" w="18215615">
                  <a:moveTo>
                    <a:pt x="0" y="0"/>
                  </a:moveTo>
                  <a:lnTo>
                    <a:pt x="18215615" y="0"/>
                  </a:lnTo>
                  <a:lnTo>
                    <a:pt x="18215615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943" t="0" r="-19943" b="0"/>
              </a:stretch>
            </a:blipFill>
          </p:spPr>
          <p:txBody>
            <a:bodyPr/>
            <a:p/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895350"/>
            <a:ext cx="12573000" cy="1023176"/>
            <a:chOff x="0" y="0"/>
            <a:chExt cx="16764000" cy="136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364233"/>
            </a:xfrm>
            <a:custGeom>
              <a:avLst/>
              <a:gdLst/>
              <a:ahLst/>
              <a:cxnLst/>
              <a:rect r="r" b="b" t="t" l="l"/>
              <a:pathLst>
                <a:path h="1364233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3"/>
                  </a:lnTo>
                  <a:lnTo>
                    <a:pt x="0" y="1364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36" r="0" b="-18943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0" cy="1364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Course Description → Discipline Prediction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1980">
            <a:off x="902494" y="9591675"/>
            <a:ext cx="16483022" cy="0"/>
          </a:xfrm>
          <a:prstGeom prst="line">
            <a:avLst/>
          </a:prstGeom>
          <a:ln cap="rnd" w="9525">
            <a:solidFill>
              <a:srgbClr val="E3E1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15544800" y="9683496"/>
            <a:ext cx="1828800" cy="237744"/>
            <a:chOff x="0" y="0"/>
            <a:chExt cx="2438400" cy="3169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438400" cy="345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24233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09 / 13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89636" y="2200644"/>
            <a:ext cx="17908728" cy="7482852"/>
          </a:xfrm>
          <a:custGeom>
            <a:avLst/>
            <a:gdLst/>
            <a:ahLst/>
            <a:cxnLst/>
            <a:rect r="r" b="b" t="t" l="l"/>
            <a:pathLst>
              <a:path h="7482852" w="17908728">
                <a:moveTo>
                  <a:pt x="0" y="0"/>
                </a:moveTo>
                <a:lnTo>
                  <a:pt x="17908728" y="0"/>
                </a:lnTo>
                <a:lnTo>
                  <a:pt x="17908728" y="7482852"/>
                </a:lnTo>
                <a:lnTo>
                  <a:pt x="0" y="7482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266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08 ·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09 · 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980" r="0" b="-255979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764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Key Achievements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902494" y="9591675"/>
            <a:ext cx="16483022" cy="0"/>
          </a:xfrm>
          <a:prstGeom prst="line">
            <a:avLst/>
          </a:prstGeom>
          <a:ln cap="rnd" w="9525">
            <a:solidFill>
              <a:srgbClr val="E3E1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914400" y="2247900"/>
            <a:ext cx="876300" cy="876300"/>
            <a:chOff x="0" y="0"/>
            <a:chExt cx="1168400" cy="116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0" y="1168400"/>
                  </a:lnTo>
                  <a:lnTo>
                    <a:pt x="1168400" y="0"/>
                  </a:lnTo>
                  <a:close/>
                </a:path>
              </a:pathLst>
            </a:custGeom>
            <a:solidFill>
              <a:srgbClr val="6B2FA0">
                <a:alpha val="70980"/>
              </a:srgbClr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2495" y="2057324"/>
            <a:ext cx="9382125" cy="7086600"/>
            <a:chOff x="0" y="0"/>
            <a:chExt cx="12509500" cy="944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09500" cy="9448800"/>
            </a:xfrm>
            <a:custGeom>
              <a:avLst/>
              <a:gdLst/>
              <a:ahLst/>
              <a:cxnLst/>
              <a:rect r="r" b="b" t="t" l="l"/>
              <a:pathLst>
                <a:path h="9448800" w="125095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2230100" y="0"/>
                  </a:lnTo>
                  <a:cubicBezTo>
                    <a:pt x="12384405" y="0"/>
                    <a:pt x="12509500" y="125095"/>
                    <a:pt x="12509500" y="279400"/>
                  </a:cubicBezTo>
                  <a:lnTo>
                    <a:pt x="12509500" y="9169400"/>
                  </a:lnTo>
                  <a:cubicBezTo>
                    <a:pt x="12509500" y="9323705"/>
                    <a:pt x="12384405" y="9448800"/>
                    <a:pt x="12230100" y="9448800"/>
                  </a:cubicBezTo>
                  <a:lnTo>
                    <a:pt x="279400" y="9448800"/>
                  </a:lnTo>
                  <a:cubicBezTo>
                    <a:pt x="125095" y="9448800"/>
                    <a:pt x="0" y="9323705"/>
                    <a:pt x="0" y="9169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52550" y="2727293"/>
            <a:ext cx="611686" cy="611686"/>
            <a:chOff x="0" y="0"/>
            <a:chExt cx="815581" cy="8155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5594" cy="815594"/>
            </a:xfrm>
            <a:custGeom>
              <a:avLst/>
              <a:gdLst/>
              <a:ahLst/>
              <a:cxnLst/>
              <a:rect r="r" b="b" t="t" l="l"/>
              <a:pathLst>
                <a:path h="815594" w="81559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19887" y="0"/>
                  </a:lnTo>
                  <a:cubicBezTo>
                    <a:pt x="728091" y="0"/>
                    <a:pt x="815594" y="87630"/>
                    <a:pt x="815594" y="195707"/>
                  </a:cubicBezTo>
                  <a:lnTo>
                    <a:pt x="815594" y="619887"/>
                  </a:lnTo>
                  <a:cubicBezTo>
                    <a:pt x="815594" y="728091"/>
                    <a:pt x="727964" y="815594"/>
                    <a:pt x="619887" y="815594"/>
                  </a:cubicBezTo>
                  <a:lnTo>
                    <a:pt x="195707" y="815594"/>
                  </a:lnTo>
                  <a:cubicBezTo>
                    <a:pt x="87630" y="815594"/>
                    <a:pt x="0" y="727964"/>
                    <a:pt x="0" y="619887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9323" y="2758392"/>
            <a:ext cx="438150" cy="548783"/>
            <a:chOff x="0" y="0"/>
            <a:chExt cx="584200" cy="73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4200" cy="731774"/>
            </a:xfrm>
            <a:custGeom>
              <a:avLst/>
              <a:gdLst/>
              <a:ahLst/>
              <a:cxnLst/>
              <a:rect r="r" b="b" t="t" l="l"/>
              <a:pathLst>
                <a:path h="731774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731774"/>
                  </a:lnTo>
                  <a:lnTo>
                    <a:pt x="0" y="7317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813" t="0" r="-110810" b="8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9323" y="2715530"/>
            <a:ext cx="438150" cy="591645"/>
            <a:chOff x="0" y="0"/>
            <a:chExt cx="584200" cy="7888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4200" cy="788861"/>
            </a:xfrm>
            <a:custGeom>
              <a:avLst/>
              <a:gdLst/>
              <a:ahLst/>
              <a:cxnLst/>
              <a:rect r="r" b="b" t="t" l="l"/>
              <a:pathLst>
                <a:path h="788861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788861"/>
                  </a:lnTo>
                  <a:lnTo>
                    <a:pt x="0" y="788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251" t="0" r="-123251" b="0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84200" cy="84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52650" y="2686050"/>
            <a:ext cx="7762875" cy="7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249" b="true">
                <a:solidFill>
                  <a:srgbClr val="24275F"/>
                </a:solidFill>
                <a:latin typeface="Segoe UI Bold"/>
                <a:ea typeface="Segoe UI Bold"/>
                <a:cs typeface="Segoe UI Bold"/>
                <a:sym typeface="Segoe UI Bold"/>
              </a:rPr>
              <a:t>Built an end-to-end pipeline classifying 3,000 course descriptions across 10 disciplines using 4 transformer course classification.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52650" y="4163731"/>
            <a:ext cx="7762875" cy="149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true">
                <a:solidFill>
                  <a:srgbClr val="D62B73"/>
                </a:solidFill>
                <a:latin typeface="Segoe UI Bold"/>
                <a:ea typeface="Segoe UI Bold"/>
                <a:cs typeface="Segoe UI Bold"/>
                <a:sym typeface="Segoe UI Bold"/>
              </a:rPr>
              <a:t>All 4 fine-tuned transformers achieved 100% test accuracy. BERT selected as best model.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684678" y="2838450"/>
            <a:ext cx="6696075" cy="2219325"/>
            <a:chOff x="0" y="0"/>
            <a:chExt cx="8928100" cy="295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28100" cy="2959100"/>
            </a:xfrm>
            <a:custGeom>
              <a:avLst/>
              <a:gdLst/>
              <a:ahLst/>
              <a:cxnLst/>
              <a:rect r="r" b="b" t="t" l="l"/>
              <a:pathLst>
                <a:path h="2959100" w="89281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8674100" y="0"/>
                  </a:lnTo>
                  <a:cubicBezTo>
                    <a:pt x="8814435" y="0"/>
                    <a:pt x="8928100" y="113665"/>
                    <a:pt x="8928100" y="254000"/>
                  </a:cubicBezTo>
                  <a:lnTo>
                    <a:pt x="8928100" y="2705100"/>
                  </a:lnTo>
                  <a:cubicBezTo>
                    <a:pt x="8928100" y="2845435"/>
                    <a:pt x="8814435" y="2959100"/>
                    <a:pt x="8674100" y="2959100"/>
                  </a:cubicBezTo>
                  <a:lnTo>
                    <a:pt x="254000" y="2959100"/>
                  </a:lnTo>
                  <a:cubicBezTo>
                    <a:pt x="113665" y="2959100"/>
                    <a:pt x="0" y="2845435"/>
                    <a:pt x="0" y="27051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32388" y="3062002"/>
            <a:ext cx="5366926" cy="72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4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Test Accuracy – 100.0%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684678" y="5232511"/>
            <a:ext cx="6696075" cy="1912553"/>
            <a:chOff x="0" y="0"/>
            <a:chExt cx="8928100" cy="2550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28100" cy="2550160"/>
            </a:xfrm>
            <a:custGeom>
              <a:avLst/>
              <a:gdLst/>
              <a:ahLst/>
              <a:cxnLst/>
              <a:rect r="r" b="b" t="t" l="l"/>
              <a:pathLst>
                <a:path h="2550160" w="8928100">
                  <a:moveTo>
                    <a:pt x="0" y="218948"/>
                  </a:moveTo>
                  <a:cubicBezTo>
                    <a:pt x="0" y="97917"/>
                    <a:pt x="113665" y="0"/>
                    <a:pt x="254000" y="0"/>
                  </a:cubicBezTo>
                  <a:lnTo>
                    <a:pt x="8674100" y="0"/>
                  </a:lnTo>
                  <a:cubicBezTo>
                    <a:pt x="8814435" y="0"/>
                    <a:pt x="8928100" y="97917"/>
                    <a:pt x="8928100" y="218948"/>
                  </a:cubicBezTo>
                  <a:lnTo>
                    <a:pt x="8928100" y="2331212"/>
                  </a:lnTo>
                  <a:cubicBezTo>
                    <a:pt x="8928100" y="2452116"/>
                    <a:pt x="8814435" y="2550160"/>
                    <a:pt x="8674100" y="2550160"/>
                  </a:cubicBezTo>
                  <a:lnTo>
                    <a:pt x="254000" y="2550160"/>
                  </a:lnTo>
                  <a:cubicBezTo>
                    <a:pt x="113665" y="2550160"/>
                    <a:pt x="0" y="2452243"/>
                    <a:pt x="0" y="23312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332388" y="4771973"/>
            <a:ext cx="6096000" cy="72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44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Macro F1 – 1.0000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677525" y="7338079"/>
            <a:ext cx="6696075" cy="1986896"/>
            <a:chOff x="0" y="0"/>
            <a:chExt cx="8928100" cy="26491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28100" cy="2649220"/>
            </a:xfrm>
            <a:custGeom>
              <a:avLst/>
              <a:gdLst/>
              <a:ahLst/>
              <a:cxnLst/>
              <a:rect r="r" b="b" t="t" l="l"/>
              <a:pathLst>
                <a:path h="2649220" w="8928100">
                  <a:moveTo>
                    <a:pt x="0" y="227457"/>
                  </a:moveTo>
                  <a:cubicBezTo>
                    <a:pt x="0" y="101727"/>
                    <a:pt x="113665" y="0"/>
                    <a:pt x="254000" y="0"/>
                  </a:cubicBezTo>
                  <a:lnTo>
                    <a:pt x="8674100" y="0"/>
                  </a:lnTo>
                  <a:cubicBezTo>
                    <a:pt x="8814435" y="0"/>
                    <a:pt x="8928100" y="101727"/>
                    <a:pt x="8928100" y="227457"/>
                  </a:cubicBezTo>
                  <a:lnTo>
                    <a:pt x="8928100" y="2421763"/>
                  </a:lnTo>
                  <a:cubicBezTo>
                    <a:pt x="8928100" y="2547366"/>
                    <a:pt x="8814435" y="2649220"/>
                    <a:pt x="8674100" y="2649220"/>
                  </a:cubicBezTo>
                  <a:lnTo>
                    <a:pt x="254000" y="2649220"/>
                  </a:lnTo>
                  <a:cubicBezTo>
                    <a:pt x="113665" y="2649220"/>
                    <a:pt x="0" y="2547493"/>
                    <a:pt x="0" y="242176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332388" y="6377454"/>
            <a:ext cx="6096000" cy="80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8"/>
              </a:lnSpc>
            </a:pPr>
            <a:r>
              <a:rPr lang="en-US" sz="4800" b="true">
                <a:solidFill>
                  <a:srgbClr val="1F2A6E"/>
                </a:solidFill>
                <a:latin typeface="Segoe UI Bold"/>
                <a:ea typeface="Segoe UI Bold"/>
                <a:cs typeface="Segoe UI Bold"/>
                <a:sym typeface="Segoe UI Bold"/>
              </a:rPr>
              <a:t>ROC-AUC – 1.0000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52550" y="4305300"/>
            <a:ext cx="611686" cy="611686"/>
            <a:chOff x="0" y="0"/>
            <a:chExt cx="815581" cy="8155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5594" cy="815594"/>
            </a:xfrm>
            <a:custGeom>
              <a:avLst/>
              <a:gdLst/>
              <a:ahLst/>
              <a:cxnLst/>
              <a:rect r="r" b="b" t="t" l="l"/>
              <a:pathLst>
                <a:path h="815594" w="81559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19887" y="0"/>
                  </a:lnTo>
                  <a:cubicBezTo>
                    <a:pt x="728091" y="0"/>
                    <a:pt x="815594" y="87630"/>
                    <a:pt x="815594" y="195707"/>
                  </a:cubicBezTo>
                  <a:lnTo>
                    <a:pt x="815594" y="619887"/>
                  </a:lnTo>
                  <a:cubicBezTo>
                    <a:pt x="815594" y="728091"/>
                    <a:pt x="727964" y="815594"/>
                    <a:pt x="619887" y="815594"/>
                  </a:cubicBezTo>
                  <a:lnTo>
                    <a:pt x="195707" y="815594"/>
                  </a:lnTo>
                  <a:cubicBezTo>
                    <a:pt x="87630" y="815594"/>
                    <a:pt x="0" y="727964"/>
                    <a:pt x="0" y="619887"/>
                  </a:cubicBezTo>
                  <a:close/>
                </a:path>
              </a:pathLst>
            </a:custGeom>
            <a:solidFill>
              <a:srgbClr val="962380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39323" y="4336399"/>
            <a:ext cx="438150" cy="548783"/>
            <a:chOff x="0" y="0"/>
            <a:chExt cx="584200" cy="7317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4200" cy="731774"/>
            </a:xfrm>
            <a:custGeom>
              <a:avLst/>
              <a:gdLst/>
              <a:ahLst/>
              <a:cxnLst/>
              <a:rect r="r" b="b" t="t" l="l"/>
              <a:pathLst>
                <a:path h="731774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731774"/>
                  </a:lnTo>
                  <a:lnTo>
                    <a:pt x="0" y="7317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813" t="0" r="-110810" b="8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39323" y="4293537"/>
            <a:ext cx="438150" cy="591645"/>
            <a:chOff x="0" y="0"/>
            <a:chExt cx="584200" cy="7888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4200" cy="788861"/>
            </a:xfrm>
            <a:custGeom>
              <a:avLst/>
              <a:gdLst/>
              <a:ahLst/>
              <a:cxnLst/>
              <a:rect r="r" b="b" t="t" l="l"/>
              <a:pathLst>
                <a:path h="788861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788861"/>
                  </a:lnTo>
                  <a:lnTo>
                    <a:pt x="0" y="788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251" t="0" r="-123251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84200" cy="84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8985" y="1249918"/>
            <a:ext cx="6110383" cy="1401404"/>
            <a:chOff x="0" y="0"/>
            <a:chExt cx="8147177" cy="18685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47177" cy="1868551"/>
            </a:xfrm>
            <a:custGeom>
              <a:avLst/>
              <a:gdLst/>
              <a:ahLst/>
              <a:cxnLst/>
              <a:rect r="r" b="b" t="t" l="l"/>
              <a:pathLst>
                <a:path h="1868551" w="8147177">
                  <a:moveTo>
                    <a:pt x="0" y="0"/>
                  </a:moveTo>
                  <a:lnTo>
                    <a:pt x="8147177" y="0"/>
                  </a:lnTo>
                  <a:lnTo>
                    <a:pt x="8147177" y="1868551"/>
                  </a:lnTo>
                  <a:lnTo>
                    <a:pt x="0" y="18685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9" r="0" b="-34898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98985" y="1249918"/>
            <a:ext cx="6110383" cy="1401404"/>
            <a:chOff x="0" y="0"/>
            <a:chExt cx="8147177" cy="18685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47180" cy="1868540"/>
            </a:xfrm>
            <a:custGeom>
              <a:avLst/>
              <a:gdLst/>
              <a:ahLst/>
              <a:cxnLst/>
              <a:rect r="r" b="b" t="t" l="l"/>
              <a:pathLst>
                <a:path h="1868540" w="8147180">
                  <a:moveTo>
                    <a:pt x="0" y="0"/>
                  </a:moveTo>
                  <a:lnTo>
                    <a:pt x="8147180" y="0"/>
                  </a:lnTo>
                  <a:lnTo>
                    <a:pt x="8147180" y="1868540"/>
                  </a:lnTo>
                  <a:lnTo>
                    <a:pt x="0" y="1868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58" r="0" b="-34958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171450"/>
              <a:ext cx="8147177" cy="2039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sz="2199" b="true">
                  <a:solidFill>
                    <a:srgbClr val="D62B73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All 4 fine-tuned transformers achieved 100% test accuracy. BERT selected as best model.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38560" y="9244584"/>
            <a:ext cx="5943600" cy="292608"/>
            <a:chOff x="0" y="0"/>
            <a:chExt cx="7924800" cy="3901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24800" cy="390144"/>
            </a:xfrm>
            <a:custGeom>
              <a:avLst/>
              <a:gdLst/>
              <a:ahLst/>
              <a:cxnLst/>
              <a:rect r="r" b="b" t="t" l="l"/>
              <a:pathLst>
                <a:path h="390144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789" r="0" b="-345789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792480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i="true">
                  <a:solidFill>
                    <a:srgbClr val="6A6978"/>
                  </a:solidFill>
                  <a:latin typeface="Segoe UI"/>
                  <a:ea typeface="Segoe UI"/>
                  <a:cs typeface="Segoe UI"/>
                  <a:sym typeface="Segoe UI"/>
                </a:rPr>
                <a:t>Inference Latency: 5.83 ms per course description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561320" y="621792"/>
            <a:ext cx="6812280" cy="1234440"/>
            <a:chOff x="0" y="0"/>
            <a:chExt cx="908304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083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083040">
                  <a:moveTo>
                    <a:pt x="0" y="0"/>
                  </a:moveTo>
                  <a:lnTo>
                    <a:pt x="9083040" y="0"/>
                  </a:lnTo>
                  <a:lnTo>
                    <a:pt x="908304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F4F3F7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52760" y="640080"/>
            <a:ext cx="6629400" cy="384048"/>
            <a:chOff x="0" y="0"/>
            <a:chExt cx="883920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3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348" r="0" b="-286348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883920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62B73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Best Model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652760" y="1024128"/>
            <a:ext cx="6629400" cy="585216"/>
            <a:chOff x="0" y="0"/>
            <a:chExt cx="88392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839200" cy="780288"/>
            </a:xfrm>
            <a:custGeom>
              <a:avLst/>
              <a:gdLst/>
              <a:ahLst/>
              <a:cxnLst/>
              <a:rect r="r" b="b" t="t" l="l"/>
              <a:pathLst>
                <a:path h="780288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728" r="0" b="-170728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88392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D62B73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BERT (bert-base-uncased) – 109.49M parameters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0740" y="-119653"/>
            <a:ext cx="12573000" cy="1023166"/>
            <a:chOff x="0" y="0"/>
            <a:chExt cx="16764000" cy="1364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64000" cy="1364234"/>
            </a:xfrm>
            <a:custGeom>
              <a:avLst/>
              <a:gdLst/>
              <a:ahLst/>
              <a:cxnLst/>
              <a:rect r="r" b="b" t="t" l="l"/>
              <a:pathLst>
                <a:path h="1364234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64234"/>
                  </a:lnTo>
                  <a:lnTo>
                    <a:pt x="0" y="1364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270" r="0" b="-189269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478359" y="1351062"/>
            <a:ext cx="15331283" cy="8623847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11898" r="0" b="-11898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237744"/>
            <a:ext cx="16642080" cy="621792"/>
            <a:chOff x="0" y="0"/>
            <a:chExt cx="22189440" cy="829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829056"/>
            </a:xfrm>
            <a:custGeom>
              <a:avLst/>
              <a:gdLst/>
              <a:ahLst/>
              <a:cxnLst/>
              <a:rect r="r" b="b" t="t" l="l"/>
              <a:pathLst>
                <a:path h="82905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1511" r="0" b="-4715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189440" cy="82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ROC-AUC Curves (One-vs-Rest, 10 Academic Disciplines)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14375"/>
            <a:ext cx="381000" cy="38100"/>
            <a:chOff x="0" y="0"/>
            <a:chExt cx="508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2185B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428750" y="609600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C2185B"/>
                </a:solidFill>
                <a:latin typeface="Segoe UI Bold"/>
                <a:ea typeface="Segoe UI Bold"/>
                <a:cs typeface="Segoe UI Bold"/>
                <a:sym typeface="Segoe UI Bold"/>
              </a:rPr>
              <a:t>11 · REFERENCES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980" r="0" b="-255979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895350"/>
            <a:ext cx="12573000" cy="800100"/>
            <a:chOff x="0" y="0"/>
            <a:chExt cx="16764000" cy="10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6764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4275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References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902494" y="9591675"/>
            <a:ext cx="16483022" cy="0"/>
          </a:xfrm>
          <a:prstGeom prst="line">
            <a:avLst/>
          </a:prstGeom>
          <a:ln cap="rnd" w="9525">
            <a:solidFill>
              <a:srgbClr val="E3E1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914400" y="9715500"/>
            <a:ext cx="8572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2657F"/>
                </a:solidFill>
                <a:latin typeface="Segoe UI"/>
                <a:ea typeface="Segoe UI"/>
                <a:cs typeface="Segoe UI"/>
                <a:sym typeface="Segoe UI"/>
              </a:rPr>
              <a:t>CourseClassifier · Academic Course Description Classification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16100" y="9658350"/>
            <a:ext cx="2857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true">
                <a:solidFill>
                  <a:srgbClr val="24275F"/>
                </a:solidFill>
                <a:latin typeface="Consolas Bold"/>
                <a:ea typeface="Consolas Bold"/>
                <a:cs typeface="Consolas Bold"/>
                <a:sym typeface="Consolas Bold"/>
              </a:rPr>
              <a:t>12 / 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2209800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[1]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2247900"/>
            <a:ext cx="158496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J. Devlin, M.-W. Chang, K. Lee, and K. Toutanova, «BERT: Pre-training of Deep Bidirectional Transformers for Language Understanding,» Proc. NAACL-HLT 2019, pp. 4171–4186, 2019.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3333750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[2]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4000" y="3371850"/>
            <a:ext cx="158496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Y. Liu et al., «RoBERTa: A Robustly Optimized BERT Pretraining Approach,» arXiv preprint arXiv:1907.11692, 2019.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4457700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[3]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4000" y="4495800"/>
            <a:ext cx="158496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P. He, X. Liu, J. Gao, and W. Chen, «DeBERTa: Decoding-enhanced BERT with Disentangled Attention,» Proc. ICLR 2021, 2021.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5883402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[4]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4000" y="5921502"/>
            <a:ext cx="15849600" cy="2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C. Raffel et al., «Exploring the Limits of Transfer Learning with a Unified Text-to-Text Transformer,» JMLR, vol. 21, pp. 1–67, 2020.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7007352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[5]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4000" y="7045452"/>
            <a:ext cx="15849600" cy="2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A. Vaswani et al., «Attention Is All You Need,» Advances in Neural Information Processing Systems (NeurIPS), 2017.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131302"/>
            <a:ext cx="60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C2185B"/>
                </a:solidFill>
                <a:latin typeface="Consolas Bold"/>
                <a:ea typeface="Consolas Bold"/>
                <a:cs typeface="Consolas Bold"/>
                <a:sym typeface="Consolas Bold"/>
              </a:rPr>
              <a:t>[6]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4000" y="8169402"/>
            <a:ext cx="15849600" cy="2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1E2040"/>
                </a:solidFill>
                <a:latin typeface="Segoe UI"/>
                <a:ea typeface="Segoe UI"/>
                <a:cs typeface="Segoe UI"/>
                <a:sym typeface="Segoe UI"/>
              </a:rPr>
              <a:t>T. Wolf et al., «Transformers: State-of-the-Art Natural Language Processing,» Proc. EMNLP 2020, pp. 38–45, 2020.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9050" y="1838325"/>
            <a:ext cx="18288000" cy="7772400"/>
            <a:chOff x="0" y="0"/>
            <a:chExt cx="24384000" cy="1036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AFCFC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2148840"/>
            <a:ext cx="502920" cy="411480"/>
            <a:chOff x="0" y="0"/>
            <a:chExt cx="6705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[1]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28750" y="1952244"/>
            <a:ext cx="15727680" cy="804672"/>
            <a:chOff x="0" y="0"/>
            <a:chExt cx="20970240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[M. Guo, J. Ainslie, D. Uthus, S. Ontañón, J. Ni, Y.-H. Sung, and Y. Yang, “Scalable Classification of Course Information Sheets with LLM Prompting, Proc. EDM 2026. for Long Sequences,” Findings of NAACL, 2022.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3136392"/>
            <a:ext cx="502920" cy="411480"/>
            <a:chOff x="0" y="0"/>
            <a:chExt cx="67056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[2]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17320" y="3029331"/>
            <a:ext cx="15727680" cy="804672"/>
            <a:chOff x="0" y="0"/>
            <a:chExt cx="20970240" cy="10728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M. Zhong et al., “Course Learning Outcome Categorization using BERT, Proc. AIED 2025, Cohen's kappa &gt; 0.84. for Query-based Multi-domain Meeting Summarization,” Proc. NAACL-HLT, pp. 5905–5921, 2021, doi: 10.18653/v1/2021.naacl-main.472.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4123944"/>
            <a:ext cx="502920" cy="411480"/>
            <a:chOff x="0" y="0"/>
            <a:chExt cx="67056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[3]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28750" y="4014978"/>
            <a:ext cx="15727680" cy="804672"/>
            <a:chOff x="0" y="0"/>
            <a:chExt cx="20970240" cy="10728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X. Liu, J. Lu, and A. Xu, “Curriculum Recommendations via InfoNCE and Transformer Embeddings, Proc. ECML 2024, 66.31% CV. meeting summarization with large language models,” Journal of King Saud University Computer and Information Sciences, vol. 37, art. 275, 2025, doi: 10.1007/s44443-025-00304-y.</a:t>
              </a: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/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5111496"/>
            <a:ext cx="502920" cy="411480"/>
            <a:chOff x="0" y="0"/>
            <a:chExt cx="67056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[4]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28750" y="4914900"/>
            <a:ext cx="15727680" cy="804672"/>
            <a:chOff x="0" y="0"/>
            <a:chExt cx="20970240" cy="10728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F. Schneider, M. Turchi, and A. Waibel, “Bloom's Taxonomy DL Classification with TF-IDF, Proc. LAK 2025, 96% accuracy. Summarization,” arXiv:2502.03111, 2025.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099048"/>
            <a:ext cx="502920" cy="411480"/>
            <a:chOff x="0" y="0"/>
            <a:chExt cx="67056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[5]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28750" y="5900547"/>
            <a:ext cx="15727680" cy="804672"/>
            <a:chOff x="0" y="0"/>
            <a:chExt cx="20970240" cy="10728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K. Shinde, L. Besacier, O. Bojar, T. Thonet, and T. Ghosal, “A. Conneau et al., Unsupervised Cross-lingual Representation Learning, Proc. ACL 2020, pp. 8440-8451. (AutoMin) Challenge,” arXiv:2509.13814, 2025.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7086600"/>
            <a:ext cx="502920" cy="411480"/>
            <a:chOff x="0" y="0"/>
            <a:chExt cx="67056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[6]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28750" y="6852666"/>
            <a:ext cx="15727680" cy="804672"/>
            <a:chOff x="0" y="0"/>
            <a:chExt cx="20970240" cy="10728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[S. Ryu, H. Do, J. Seo, D. Kim, Y. Kim, G. G. Lee, and J. Ok, “F. Pedregosa et al., Scikit-learn: Machine Learning in Python, JMLR, vol. 12, pp. 2825-2830, 2011. Meeting Document Summarization,” arXiv:2606.08445, 2026.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8074152"/>
            <a:ext cx="502920" cy="411480"/>
            <a:chOff x="0" y="0"/>
            <a:chExt cx="67056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70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F2A6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[7]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81328" y="8055864"/>
            <a:ext cx="15727680" cy="804672"/>
            <a:chOff x="0" y="0"/>
            <a:chExt cx="20970240" cy="10728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9702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097024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>
                  <a:solidFill>
                    <a:srgbClr val="24233A"/>
                  </a:solidFill>
                  <a:latin typeface="Segoe UI"/>
                  <a:ea typeface="Segoe UI"/>
                  <a:cs typeface="Segoe UI"/>
                  <a:sym typeface="Segoe UI"/>
                </a:rPr>
                <a:t>[7] M. Lewis et al., “T. Zhang et al., BERTScore: Evaluating Text Generation with BERT, Proc. ICLR 2020, 2020. Pre-training for Natural Language Generation, Translation, and Comprehension,” Proc. ACL, pp. 7871–7880, 2020, doi: 10.18653/v1/2020.acl-main.703.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0" id="70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317" y="3923471"/>
            <a:ext cx="18288000" cy="1714500"/>
            <a:chOff x="0" y="0"/>
            <a:chExt cx="243840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696" r="0" b="-157695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24317" y="3923471"/>
            <a:ext cx="18288000" cy="1714500"/>
            <a:chOff x="0" y="0"/>
            <a:chExt cx="24384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57175"/>
              <a:ext cx="243840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0"/>
                </a:lnSpc>
              </a:pPr>
              <a:r>
                <a:rPr lang="en-US" sz="9000" b="true">
                  <a:solidFill>
                    <a:srgbClr val="1F2A6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Thank You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6586165"/>
            <a:ext cx="2344946" cy="3782170"/>
          </a:xfrm>
          <a:custGeom>
            <a:avLst/>
            <a:gdLst/>
            <a:ahLst/>
            <a:cxnLst/>
            <a:rect r="r" b="b" t="t" l="l"/>
            <a:pathLst>
              <a:path h="3782170" w="2344946">
                <a:moveTo>
                  <a:pt x="0" y="0"/>
                </a:moveTo>
                <a:lnTo>
                  <a:pt x="2344946" y="0"/>
                </a:lnTo>
                <a:lnTo>
                  <a:pt x="2344946" y="3782170"/>
                </a:lnTo>
                <a:lnTo>
                  <a:pt x="0" y="378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745571" y="-81335"/>
            <a:ext cx="3561479" cy="5744320"/>
          </a:xfrm>
          <a:custGeom>
            <a:avLst/>
            <a:gdLst/>
            <a:ahLst/>
            <a:cxnLst/>
            <a:rect r="r" b="b" t="t" l="l"/>
            <a:pathLst>
              <a:path h="5744320" w="3561479">
                <a:moveTo>
                  <a:pt x="0" y="0"/>
                </a:moveTo>
                <a:lnTo>
                  <a:pt x="3561479" y="0"/>
                </a:lnTo>
                <a:lnTo>
                  <a:pt x="3561479" y="5744320"/>
                </a:lnTo>
                <a:lnTo>
                  <a:pt x="0" y="574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DAHXQS29Gb4</dc:identifier>
  <dcterms:modified xsi:type="dcterms:W3CDTF">2011-08-01T06:04:30Z</dcterms:modified>
  <cp:revision>1</cp:revision>
  <dc:title>Transcripto_NLP_Project_13_Slide_Presentation.pptx</dc:title>
</cp:coreProperties>
</file>